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37">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g3f73b7d3f24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 name="Google Shape;50;g3f73b7d3f24_0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g3f73b7d3f24_0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f7345a2c0c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f7345a2c0c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g3f7345a2c0c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f73b7d3f24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f73b7d3f24_0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g3f73b7d3f24_0_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f73b7d3f24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f73b7d3f24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g3f73b7d3f24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7345a2c0c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7345a2c0c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g3f7345a2c0c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73b7d3f24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73b7d3f24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3f73b7d3f24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73b7d3f24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73b7d3f24_0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3f73b7d3f24_0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73b7d3f24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73b7d3f24_0_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g3f73b7d3f24_0_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7345a2c0c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7345a2c0c_0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g3f7345a2c0c_0_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ntro Page v2">
  <p:cSld name="Intro Page v2">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322729" y="1122363"/>
            <a:ext cx="7198659" cy="3391200"/>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1"/>
              </a:buClr>
              <a:buSzPts val="4000"/>
              <a:buFont typeface="Arial"/>
              <a:buNone/>
              <a:defRPr b="0" i="0" u="none">
                <a:latin typeface="Arial"/>
                <a:ea typeface="Arial"/>
                <a:cs typeface="Arial"/>
                <a:sym typeface="Arial"/>
              </a:defRPr>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322725" y="4831975"/>
            <a:ext cx="7198800" cy="620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200"/>
              <a:buNone/>
              <a:defRPr sz="2200"/>
            </a:lvl2pPr>
            <a:lvl3pPr lvl="2" algn="ctr">
              <a:lnSpc>
                <a:spcPct val="90000"/>
              </a:lnSpc>
              <a:spcBef>
                <a:spcPts val="500"/>
              </a:spcBef>
              <a:spcAft>
                <a:spcPts val="0"/>
              </a:spcAft>
              <a:buClr>
                <a:schemeClr val="dk1"/>
              </a:buClr>
              <a:buSzPts val="2200"/>
              <a:buNone/>
              <a:defRPr sz="2200"/>
            </a:lvl3pPr>
            <a:lvl4pPr lvl="3" algn="ctr">
              <a:lnSpc>
                <a:spcPct val="90000"/>
              </a:lnSpc>
              <a:spcBef>
                <a:spcPts val="500"/>
              </a:spcBef>
              <a:spcAft>
                <a:spcPts val="0"/>
              </a:spcAft>
              <a:buClr>
                <a:schemeClr val="dk1"/>
              </a:buClr>
              <a:buSzPts val="2200"/>
              <a:buNone/>
              <a:defRPr sz="2200"/>
            </a:lvl4pPr>
            <a:lvl5pPr lvl="4" algn="ctr">
              <a:lnSpc>
                <a:spcPct val="90000"/>
              </a:lnSpc>
              <a:spcBef>
                <a:spcPts val="500"/>
              </a:spcBef>
              <a:spcAft>
                <a:spcPts val="0"/>
              </a:spcAft>
              <a:buClr>
                <a:schemeClr val="dk1"/>
              </a:buClr>
              <a:buSzPts val="2200"/>
              <a:buNone/>
              <a:defRPr sz="2200"/>
            </a:lvl5pPr>
            <a:lvl6pPr lvl="5" algn="ctr">
              <a:lnSpc>
                <a:spcPct val="90000"/>
              </a:lnSpc>
              <a:spcBef>
                <a:spcPts val="500"/>
              </a:spcBef>
              <a:spcAft>
                <a:spcPts val="0"/>
              </a:spcAft>
              <a:buClr>
                <a:schemeClr val="dk1"/>
              </a:buClr>
              <a:buSzPts val="2200"/>
              <a:buNone/>
              <a:defRPr sz="2200"/>
            </a:lvl6pPr>
            <a:lvl7pPr lvl="6" algn="ctr">
              <a:lnSpc>
                <a:spcPct val="90000"/>
              </a:lnSpc>
              <a:spcBef>
                <a:spcPts val="500"/>
              </a:spcBef>
              <a:spcAft>
                <a:spcPts val="0"/>
              </a:spcAft>
              <a:buClr>
                <a:schemeClr val="dk1"/>
              </a:buClr>
              <a:buSzPts val="2200"/>
              <a:buNone/>
              <a:defRPr sz="2200"/>
            </a:lvl7pPr>
            <a:lvl8pPr lvl="7" algn="ctr">
              <a:lnSpc>
                <a:spcPct val="90000"/>
              </a:lnSpc>
              <a:spcBef>
                <a:spcPts val="500"/>
              </a:spcBef>
              <a:spcAft>
                <a:spcPts val="0"/>
              </a:spcAft>
              <a:buClr>
                <a:schemeClr val="dk1"/>
              </a:buClr>
              <a:buSzPts val="2200"/>
              <a:buNone/>
              <a:defRPr sz="2200"/>
            </a:lvl8pPr>
            <a:lvl9pPr lvl="8" algn="ctr">
              <a:lnSpc>
                <a:spcPct val="90000"/>
              </a:lnSpc>
              <a:spcBef>
                <a:spcPts val="500"/>
              </a:spcBef>
              <a:spcAft>
                <a:spcPts val="0"/>
              </a:spcAft>
              <a:buClr>
                <a:schemeClr val="dk1"/>
              </a:buClr>
              <a:buSzPts val="2200"/>
              <a:buNone/>
              <a:defRPr sz="2200"/>
            </a:lvl9pPr>
          </a:lstStyle>
          <a:p>
            <a:endParaRPr/>
          </a:p>
        </p:txBody>
      </p:sp>
      <p:sp>
        <p:nvSpPr>
          <p:cNvPr id="18" name="Google Shape;18;p2"/>
          <p:cNvSpPr txBox="1"/>
          <p:nvPr/>
        </p:nvSpPr>
        <p:spPr>
          <a:xfrm>
            <a:off x="10033686" y="6220407"/>
            <a:ext cx="1836051" cy="276999"/>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1"/>
              </a:buClr>
              <a:buSzPts val="2000"/>
              <a:buFont typeface="Arial"/>
              <a:buNone/>
            </a:pPr>
            <a:r>
              <a:rPr lang="en-GB" sz="2000" b="0" i="0" u="none" strike="noStrike" cap="none">
                <a:solidFill>
                  <a:schemeClr val="accent1"/>
                </a:solidFill>
                <a:latin typeface="Arial"/>
                <a:ea typeface="Arial"/>
                <a:cs typeface="Arial"/>
                <a:sym typeface="Arial"/>
              </a:rPr>
              <a:t>nextstudy.eu</a:t>
            </a:r>
            <a:endParaRPr/>
          </a:p>
        </p:txBody>
      </p:sp>
      <p:pic>
        <p:nvPicPr>
          <p:cNvPr id="19" name="Google Shape;19;p2"/>
          <p:cNvPicPr preferRelativeResize="0"/>
          <p:nvPr/>
        </p:nvPicPr>
        <p:blipFill>
          <a:blip r:embed="rId2">
            <a:alphaModFix/>
          </a:blip>
          <a:stretch>
            <a:fillRect/>
          </a:stretch>
        </p:blipFill>
        <p:spPr>
          <a:xfrm>
            <a:off x="8413500" y="0"/>
            <a:ext cx="1993900" cy="6858000"/>
          </a:xfrm>
          <a:prstGeom prst="rect">
            <a:avLst/>
          </a:prstGeom>
          <a:noFill/>
          <a:ln>
            <a:noFill/>
          </a:ln>
        </p:spPr>
      </p:pic>
      <p:pic>
        <p:nvPicPr>
          <p:cNvPr id="20" name="Google Shape;20;p2"/>
          <p:cNvPicPr preferRelativeResize="0"/>
          <p:nvPr/>
        </p:nvPicPr>
        <p:blipFill>
          <a:blip r:embed="rId3">
            <a:alphaModFix/>
          </a:blip>
          <a:stretch>
            <a:fillRect/>
          </a:stretch>
        </p:blipFill>
        <p:spPr>
          <a:xfrm>
            <a:off x="8583950" y="104275"/>
            <a:ext cx="3519326" cy="778475"/>
          </a:xfrm>
          <a:prstGeom prst="rect">
            <a:avLst/>
          </a:prstGeom>
          <a:noFill/>
          <a:ln>
            <a:noFill/>
          </a:ln>
        </p:spPr>
      </p:pic>
      <p:pic>
        <p:nvPicPr>
          <p:cNvPr id="21" name="Google Shape;21;p2"/>
          <p:cNvPicPr preferRelativeResize="0"/>
          <p:nvPr/>
        </p:nvPicPr>
        <p:blipFill>
          <a:blip r:embed="rId4">
            <a:alphaModFix/>
          </a:blip>
          <a:stretch>
            <a:fillRect/>
          </a:stretch>
        </p:blipFill>
        <p:spPr>
          <a:xfrm>
            <a:off x="322275" y="262350"/>
            <a:ext cx="6917576" cy="620400"/>
          </a:xfrm>
          <a:prstGeom prst="rect">
            <a:avLst/>
          </a:prstGeom>
          <a:noFill/>
          <a:ln>
            <a:noFill/>
          </a:ln>
        </p:spPr>
      </p:pic>
      <p:sp>
        <p:nvSpPr>
          <p:cNvPr id="22" name="Google Shape;22;p2"/>
          <p:cNvSpPr txBox="1">
            <a:spLocks noGrp="1"/>
          </p:cNvSpPr>
          <p:nvPr>
            <p:ph type="body" idx="2"/>
          </p:nvPr>
        </p:nvSpPr>
        <p:spPr>
          <a:xfrm>
            <a:off x="337075" y="5452375"/>
            <a:ext cx="7170000" cy="1044900"/>
          </a:xfrm>
          <a:prstGeom prst="rect">
            <a:avLst/>
          </a:prstGeom>
        </p:spPr>
        <p:txBody>
          <a:bodyPr spcFirstLastPara="1" wrap="square" lIns="0" tIns="0" rIns="0" bIns="0" anchor="t" anchorCtr="0">
            <a:normAutofit/>
          </a:bodyPr>
          <a:lstStyle>
            <a:lvl1pPr marL="457200" lvl="0" indent="-228600">
              <a:spcBef>
                <a:spcPts val="1000"/>
              </a:spcBef>
              <a:spcAft>
                <a:spcPts val="0"/>
              </a:spcAft>
              <a:buSzPts val="2400"/>
              <a:buNone/>
              <a:defRPr sz="2400"/>
            </a:lvl1pPr>
            <a:lvl2pPr marL="914400" lvl="1" indent="-228600">
              <a:spcBef>
                <a:spcPts val="500"/>
              </a:spcBef>
              <a:spcAft>
                <a:spcPts val="0"/>
              </a:spcAft>
              <a:buSzPts val="2400"/>
              <a:buNone/>
              <a:defRPr sz="2400"/>
            </a:lvl2pPr>
            <a:lvl3pPr marL="1371600" lvl="2" indent="-228600">
              <a:spcBef>
                <a:spcPts val="500"/>
              </a:spcBef>
              <a:spcAft>
                <a:spcPts val="0"/>
              </a:spcAft>
              <a:buSzPts val="2400"/>
              <a:buNone/>
              <a:defRPr sz="2400"/>
            </a:lvl3pPr>
            <a:lvl4pPr marL="1828800" lvl="3" indent="-228600">
              <a:spcBef>
                <a:spcPts val="500"/>
              </a:spcBef>
              <a:spcAft>
                <a:spcPts val="0"/>
              </a:spcAft>
              <a:buSzPts val="2400"/>
              <a:buNone/>
              <a:defRPr/>
            </a:lvl4pPr>
            <a:lvl5pPr marL="2286000" lvl="4" indent="-228600">
              <a:spcBef>
                <a:spcPts val="500"/>
              </a:spcBef>
              <a:spcAft>
                <a:spcPts val="0"/>
              </a:spcAft>
              <a:buSzPts val="2400"/>
              <a:buNone/>
              <a:defRPr sz="2400"/>
            </a:lvl5pPr>
            <a:lvl6pPr marL="2743200" lvl="5" indent="-381000">
              <a:spcBef>
                <a:spcPts val="500"/>
              </a:spcBef>
              <a:spcAft>
                <a:spcPts val="0"/>
              </a:spcAft>
              <a:buSzPts val="2400"/>
              <a:buChar char="•"/>
              <a:defRPr sz="2400"/>
            </a:lvl6pPr>
            <a:lvl7pPr marL="3200400" lvl="6" indent="-381000">
              <a:spcBef>
                <a:spcPts val="500"/>
              </a:spcBef>
              <a:spcAft>
                <a:spcPts val="0"/>
              </a:spcAft>
              <a:buSzPts val="2400"/>
              <a:buChar char="•"/>
              <a:defRPr sz="2400"/>
            </a:lvl7pPr>
            <a:lvl8pPr marL="3657600" lvl="7" indent="-381000">
              <a:spcBef>
                <a:spcPts val="500"/>
              </a:spcBef>
              <a:spcAft>
                <a:spcPts val="0"/>
              </a:spcAft>
              <a:buSzPts val="2400"/>
              <a:buChar char="•"/>
              <a:defRPr sz="2400"/>
            </a:lvl8pPr>
            <a:lvl9pPr marL="4114800" lvl="8" indent="-381000">
              <a:spcBef>
                <a:spcPts val="500"/>
              </a:spcBef>
              <a:spcAft>
                <a:spcPts val="0"/>
              </a:spcAft>
              <a:buSzPts val="2400"/>
              <a:buChar char="•"/>
              <a:defRPr sz="2400"/>
            </a:lvl9pPr>
          </a:lstStyle>
          <a:p>
            <a:endParaRPr/>
          </a:p>
        </p:txBody>
      </p:sp>
      <p:sp>
        <p:nvSpPr>
          <p:cNvPr id="23" name="Google Shape;23;p2"/>
          <p:cNvSpPr txBox="1">
            <a:spLocks noGrp="1"/>
          </p:cNvSpPr>
          <p:nvPr>
            <p:ph type="sldNum" idx="12"/>
          </p:nvPr>
        </p:nvSpPr>
        <p:spPr>
          <a:xfrm>
            <a:off x="11409045" y="6333134"/>
            <a:ext cx="731700" cy="5250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ingle Column" type="obj">
  <p:cSld name="OBJECT">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322875" y="314575"/>
            <a:ext cx="10089900" cy="11448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
          <p:cNvSpPr txBox="1">
            <a:spLocks noGrp="1"/>
          </p:cNvSpPr>
          <p:nvPr>
            <p:ph type="body" idx="1"/>
          </p:nvPr>
        </p:nvSpPr>
        <p:spPr>
          <a:xfrm>
            <a:off x="322725" y="1459350"/>
            <a:ext cx="11546400" cy="4767600"/>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dk1"/>
              </a:buClr>
              <a:buSzPts val="1600"/>
              <a:buNone/>
              <a:defRPr sz="3400"/>
            </a:lvl1pPr>
            <a:lvl2pPr marL="914400" lvl="1" indent="-228600" algn="l">
              <a:lnSpc>
                <a:spcPct val="90000"/>
              </a:lnSpc>
              <a:spcBef>
                <a:spcPts val="500"/>
              </a:spcBef>
              <a:spcAft>
                <a:spcPts val="0"/>
              </a:spcAft>
              <a:buClr>
                <a:schemeClr val="dk1"/>
              </a:buClr>
              <a:buSzPts val="1600"/>
              <a:buNone/>
              <a:defRPr sz="3000"/>
            </a:lvl2pPr>
            <a:lvl3pPr marL="1371600" lvl="2" indent="-228600" algn="l">
              <a:lnSpc>
                <a:spcPct val="90000"/>
              </a:lnSpc>
              <a:spcBef>
                <a:spcPts val="500"/>
              </a:spcBef>
              <a:spcAft>
                <a:spcPts val="0"/>
              </a:spcAft>
              <a:buClr>
                <a:schemeClr val="dk1"/>
              </a:buClr>
              <a:buSzPts val="1600"/>
              <a:buNone/>
              <a:defRPr sz="2600"/>
            </a:lvl3pPr>
            <a:lvl4pPr marL="1828800" lvl="3" indent="-228600" algn="l">
              <a:lnSpc>
                <a:spcPct val="90000"/>
              </a:lnSpc>
              <a:spcBef>
                <a:spcPts val="500"/>
              </a:spcBef>
              <a:spcAft>
                <a:spcPts val="0"/>
              </a:spcAft>
              <a:buClr>
                <a:schemeClr val="dk1"/>
              </a:buClr>
              <a:buSzPts val="1600"/>
              <a:buNone/>
              <a:defRPr sz="2200"/>
            </a:lvl4pPr>
            <a:lvl5pPr marL="2286000" lvl="4" indent="-228600" algn="l">
              <a:lnSpc>
                <a:spcPct val="90000"/>
              </a:lnSpc>
              <a:spcBef>
                <a:spcPts val="500"/>
              </a:spcBef>
              <a:spcAft>
                <a:spcPts val="0"/>
              </a:spcAft>
              <a:buClr>
                <a:schemeClr val="dk1"/>
              </a:buClr>
              <a:buSzPts val="1600"/>
              <a:buNone/>
              <a:defRPr sz="1800"/>
            </a:lvl5pPr>
            <a:lvl6pPr marL="2743200" lvl="5" indent="-330200" algn="l">
              <a:lnSpc>
                <a:spcPct val="90000"/>
              </a:lnSpc>
              <a:spcBef>
                <a:spcPts val="500"/>
              </a:spcBef>
              <a:spcAft>
                <a:spcPts val="0"/>
              </a:spcAft>
              <a:buClr>
                <a:schemeClr val="dk1"/>
              </a:buClr>
              <a:buSzPts val="1600"/>
              <a:buChar char="•"/>
              <a:defRPr sz="1600"/>
            </a:lvl6pPr>
            <a:lvl7pPr marL="3200400" lvl="6" indent="-330200" algn="l">
              <a:lnSpc>
                <a:spcPct val="90000"/>
              </a:lnSpc>
              <a:spcBef>
                <a:spcPts val="500"/>
              </a:spcBef>
              <a:spcAft>
                <a:spcPts val="0"/>
              </a:spcAft>
              <a:buClr>
                <a:schemeClr val="dk1"/>
              </a:buClr>
              <a:buSzPts val="1600"/>
              <a:buChar char="•"/>
              <a:defRPr sz="1600"/>
            </a:lvl7pPr>
            <a:lvl8pPr marL="3657600" lvl="7" indent="-330200" algn="l">
              <a:lnSpc>
                <a:spcPct val="90000"/>
              </a:lnSpc>
              <a:spcBef>
                <a:spcPts val="500"/>
              </a:spcBef>
              <a:spcAft>
                <a:spcPts val="0"/>
              </a:spcAft>
              <a:buClr>
                <a:schemeClr val="dk1"/>
              </a:buClr>
              <a:buSzPts val="1600"/>
              <a:buChar char="•"/>
              <a:defRPr sz="1600"/>
            </a:lvl8pPr>
            <a:lvl9pPr marL="4114800" lvl="8" indent="-330200" algn="l">
              <a:lnSpc>
                <a:spcPct val="90000"/>
              </a:lnSpc>
              <a:spcBef>
                <a:spcPts val="500"/>
              </a:spcBef>
              <a:spcAft>
                <a:spcPts val="0"/>
              </a:spcAft>
              <a:buClr>
                <a:schemeClr val="dk1"/>
              </a:buClr>
              <a:buSzPts val="1600"/>
              <a:buChar char="•"/>
              <a:defRPr sz="1600"/>
            </a:lvl9pPr>
          </a:lstStyle>
          <a:p>
            <a:endParaRPr/>
          </a:p>
        </p:txBody>
      </p:sp>
      <p:sp>
        <p:nvSpPr>
          <p:cNvPr id="27" name="Google Shape;27;p3"/>
          <p:cNvSpPr txBox="1">
            <a:spLocks noGrp="1"/>
          </p:cNvSpPr>
          <p:nvPr>
            <p:ph type="sldNum" idx="12"/>
          </p:nvPr>
        </p:nvSpPr>
        <p:spPr>
          <a:xfrm>
            <a:off x="8610599" y="6356350"/>
            <a:ext cx="3258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28" name="Google Shape;28;p3"/>
          <p:cNvPicPr preferRelativeResize="0"/>
          <p:nvPr/>
        </p:nvPicPr>
        <p:blipFill>
          <a:blip r:embed="rId2">
            <a:alphaModFix/>
          </a:blip>
          <a:stretch>
            <a:fillRect/>
          </a:stretch>
        </p:blipFill>
        <p:spPr>
          <a:xfrm>
            <a:off x="10615350" y="314575"/>
            <a:ext cx="1253928" cy="3651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ingle Column 1">
  <p:cSld name="OBJECT_1">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22875" y="314575"/>
            <a:ext cx="10030800" cy="11448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8610599" y="6356350"/>
            <a:ext cx="3258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32" name="Google Shape;32;p4"/>
          <p:cNvPicPr preferRelativeResize="0"/>
          <p:nvPr/>
        </p:nvPicPr>
        <p:blipFill>
          <a:blip r:embed="rId2">
            <a:alphaModFix/>
          </a:blip>
          <a:stretch>
            <a:fillRect/>
          </a:stretch>
        </p:blipFill>
        <p:spPr>
          <a:xfrm>
            <a:off x="10615350" y="314575"/>
            <a:ext cx="1253928" cy="365125"/>
          </a:xfrm>
          <a:prstGeom prst="rect">
            <a:avLst/>
          </a:prstGeom>
          <a:noFill/>
          <a:ln>
            <a:noFill/>
          </a:ln>
        </p:spPr>
      </p:pic>
      <p:sp>
        <p:nvSpPr>
          <p:cNvPr id="33" name="Google Shape;33;p4"/>
          <p:cNvSpPr>
            <a:spLocks noGrp="1"/>
          </p:cNvSpPr>
          <p:nvPr>
            <p:ph type="pic" idx="2"/>
          </p:nvPr>
        </p:nvSpPr>
        <p:spPr>
          <a:xfrm>
            <a:off x="786525" y="1504075"/>
            <a:ext cx="1924800" cy="1924800"/>
          </a:xfrm>
          <a:prstGeom prst="ellipse">
            <a:avLst/>
          </a:prstGeom>
          <a:noFill/>
          <a:ln>
            <a:noFill/>
          </a:ln>
        </p:spPr>
        <p:txBody>
          <a:bodyPr/>
          <a:lstStyle/>
          <a:p>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 you Page">
  <p:cSld name="Thank you Page">
    <p:spTree>
      <p:nvGrpSpPr>
        <p:cNvPr id="1" name="Shape 34"/>
        <p:cNvGrpSpPr/>
        <p:nvPr/>
      </p:nvGrpSpPr>
      <p:grpSpPr>
        <a:xfrm>
          <a:off x="0" y="0"/>
          <a:ext cx="0" cy="0"/>
          <a:chOff x="0" y="0"/>
          <a:chExt cx="0" cy="0"/>
        </a:xfrm>
      </p:grpSpPr>
      <p:sp>
        <p:nvSpPr>
          <p:cNvPr id="35" name="Google Shape;35;p5"/>
          <p:cNvSpPr txBox="1">
            <a:spLocks noGrp="1"/>
          </p:cNvSpPr>
          <p:nvPr>
            <p:ph type="ctrTitle"/>
          </p:nvPr>
        </p:nvSpPr>
        <p:spPr>
          <a:xfrm>
            <a:off x="322729" y="2400300"/>
            <a:ext cx="11470342" cy="2117911"/>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accent1"/>
              </a:buClr>
              <a:buSzPts val="4800"/>
              <a:buFont typeface="Arial"/>
              <a:buNone/>
              <a:defRPr sz="4800" b="0" i="0" u="none">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p:nvPr/>
        </p:nvSpPr>
        <p:spPr>
          <a:xfrm>
            <a:off x="322263" y="6220407"/>
            <a:ext cx="5773737" cy="2769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accent1"/>
              </a:buClr>
              <a:buSzPts val="2000"/>
              <a:buFont typeface="Arial"/>
              <a:buNone/>
            </a:pPr>
            <a:r>
              <a:rPr lang="en-GB" sz="2000" b="0" i="0" u="none" strike="noStrike" cap="none">
                <a:solidFill>
                  <a:schemeClr val="accent1"/>
                </a:solidFill>
                <a:latin typeface="Arial"/>
                <a:ea typeface="Arial"/>
                <a:cs typeface="Arial"/>
                <a:sym typeface="Arial"/>
              </a:rPr>
              <a:t>nextstudy.eu</a:t>
            </a:r>
            <a:endParaRPr sz="2000" b="0" i="0" u="none" strike="noStrike" cap="none">
              <a:solidFill>
                <a:schemeClr val="accent1"/>
              </a:solidFill>
              <a:latin typeface="Arial"/>
              <a:ea typeface="Arial"/>
              <a:cs typeface="Arial"/>
              <a:sym typeface="Arial"/>
            </a:endParaRPr>
          </a:p>
        </p:txBody>
      </p:sp>
      <p:pic>
        <p:nvPicPr>
          <p:cNvPr id="37" name="Google Shape;37;p5"/>
          <p:cNvPicPr preferRelativeResize="0"/>
          <p:nvPr/>
        </p:nvPicPr>
        <p:blipFill>
          <a:blip r:embed="rId2">
            <a:alphaModFix/>
          </a:blip>
          <a:stretch>
            <a:fillRect/>
          </a:stretch>
        </p:blipFill>
        <p:spPr>
          <a:xfrm>
            <a:off x="322275" y="314150"/>
            <a:ext cx="3316150" cy="1059800"/>
          </a:xfrm>
          <a:prstGeom prst="rect">
            <a:avLst/>
          </a:prstGeom>
          <a:noFill/>
          <a:ln>
            <a:noFill/>
          </a:ln>
        </p:spPr>
      </p:pic>
      <p:pic>
        <p:nvPicPr>
          <p:cNvPr id="38" name="Google Shape;38;p5"/>
          <p:cNvPicPr preferRelativeResize="0"/>
          <p:nvPr/>
        </p:nvPicPr>
        <p:blipFill>
          <a:blip r:embed="rId3">
            <a:alphaModFix/>
          </a:blip>
          <a:stretch>
            <a:fillRect/>
          </a:stretch>
        </p:blipFill>
        <p:spPr>
          <a:xfrm>
            <a:off x="7790525" y="5612004"/>
            <a:ext cx="4002550" cy="885400"/>
          </a:xfrm>
          <a:prstGeom prst="rect">
            <a:avLst/>
          </a:prstGeom>
          <a:noFill/>
          <a:ln>
            <a:noFill/>
          </a:ln>
        </p:spPr>
      </p:pic>
      <p:sp>
        <p:nvSpPr>
          <p:cNvPr id="39" name="Google Shape;39;p5"/>
          <p:cNvSpPr txBox="1">
            <a:spLocks noGrp="1"/>
          </p:cNvSpPr>
          <p:nvPr>
            <p:ph type="sldNum" idx="12"/>
          </p:nvPr>
        </p:nvSpPr>
        <p:spPr>
          <a:xfrm>
            <a:off x="11409045" y="6333134"/>
            <a:ext cx="731700" cy="5250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22729" y="314582"/>
            <a:ext cx="11546542" cy="1144764"/>
          </a:xfrm>
          <a:prstGeom prst="rect">
            <a:avLst/>
          </a:prstGeom>
          <a:noFill/>
          <a:ln>
            <a:noFill/>
          </a:ln>
        </p:spPr>
        <p:txBody>
          <a:bodyPr spcFirstLastPara="1" wrap="square" lIns="0" tIns="0" rIns="0" bIns="0" anchor="t" anchorCtr="0">
            <a:normAutofit/>
          </a:bodyPr>
          <a:lstStyle>
            <a:lvl1pPr marR="0" lvl="0" algn="l" rtl="0">
              <a:lnSpc>
                <a:spcPct val="90000"/>
              </a:lnSpc>
              <a:spcBef>
                <a:spcPts val="0"/>
              </a:spcBef>
              <a:spcAft>
                <a:spcPts val="0"/>
              </a:spcAft>
              <a:buClr>
                <a:schemeClr val="accent1"/>
              </a:buClr>
              <a:buSzPts val="4000"/>
              <a:buFont typeface="Arial"/>
              <a:buNone/>
              <a:defRPr sz="4000" b="0" i="0" u="none" strike="noStrike" cap="non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322729" y="1825625"/>
            <a:ext cx="11546542" cy="4351338"/>
          </a:xfrm>
          <a:prstGeom prst="rect">
            <a:avLst/>
          </a:prstGeom>
          <a:noFill/>
          <a:ln>
            <a:noFill/>
          </a:ln>
        </p:spPr>
        <p:txBody>
          <a:bodyPr spcFirstLastPara="1" wrap="square" lIns="0" tIns="0" rIns="0" bIns="0" anchor="t" anchorCtr="0">
            <a:normAutofit/>
          </a:bodyPr>
          <a:lstStyle>
            <a:lvl1pPr marL="457200" marR="0" lvl="0" indent="-228600" algn="l" rtl="0">
              <a:lnSpc>
                <a:spcPct val="90000"/>
              </a:lnSpc>
              <a:spcBef>
                <a:spcPts val="100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322729" y="6356350"/>
            <a:ext cx="32586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599" y="6356350"/>
            <a:ext cx="325867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6"/>
          <p:cNvSpPr txBox="1">
            <a:spLocks noGrp="1"/>
          </p:cNvSpPr>
          <p:nvPr>
            <p:ph type="ctrTitle"/>
          </p:nvPr>
        </p:nvSpPr>
        <p:spPr>
          <a:xfrm>
            <a:off x="322725" y="1435000"/>
            <a:ext cx="8003700" cy="1505700"/>
          </a:xfrm>
          <a:prstGeom prst="rect">
            <a:avLst/>
          </a:prstGeom>
          <a:noFill/>
          <a:ln>
            <a:noFill/>
          </a:ln>
        </p:spPr>
        <p:txBody>
          <a:bodyPr spcFirstLastPara="1" wrap="square" lIns="0" tIns="0" rIns="0" bIns="0" anchor="b" anchorCtr="0">
            <a:normAutofit/>
          </a:bodyPr>
          <a:lstStyle/>
          <a:p>
            <a:pPr lvl="0">
              <a:buSzPts val="4800"/>
            </a:pPr>
            <a:r>
              <a:rPr lang="ru-RU" dirty="0"/>
              <a:t>Interactive </a:t>
            </a:r>
            <a:r>
              <a:rPr lang="ru-RU" dirty="0" err="1"/>
              <a:t>lecture</a:t>
            </a:r>
            <a:r>
              <a:rPr lang="ru-RU" dirty="0"/>
              <a:t> </a:t>
            </a:r>
            <a:r>
              <a:rPr lang="ru-RU" dirty="0" err="1"/>
              <a:t>hall</a:t>
            </a:r>
            <a:r>
              <a:rPr lang="ru-RU" dirty="0"/>
              <a:t> </a:t>
            </a:r>
            <a:r>
              <a:rPr lang="ru-RU" dirty="0" err="1"/>
              <a:t>in</a:t>
            </a:r>
            <a:r>
              <a:rPr lang="ru-RU" dirty="0"/>
              <a:t> </a:t>
            </a:r>
            <a:r>
              <a:rPr lang="ru-RU" dirty="0" err="1"/>
              <a:t>VRChat</a:t>
            </a:r>
            <a:endParaRPr dirty="0"/>
          </a:p>
        </p:txBody>
      </p:sp>
      <p:sp>
        <p:nvSpPr>
          <p:cNvPr id="45" name="Google Shape;45;p6"/>
          <p:cNvSpPr txBox="1">
            <a:spLocks noGrp="1"/>
          </p:cNvSpPr>
          <p:nvPr>
            <p:ph type="subTitle" idx="1"/>
          </p:nvPr>
        </p:nvSpPr>
        <p:spPr>
          <a:xfrm>
            <a:off x="308275" y="3293988"/>
            <a:ext cx="7198800" cy="620400"/>
          </a:xfrm>
          <a:prstGeom prst="rect">
            <a:avLst/>
          </a:prstGeom>
          <a:noFill/>
          <a:ln>
            <a:noFill/>
          </a:ln>
        </p:spPr>
        <p:txBody>
          <a:bodyPr spcFirstLastPara="1" wrap="square" lIns="0" tIns="0" rIns="0" bIns="0" anchor="t" anchorCtr="0">
            <a:normAutofit/>
          </a:bodyPr>
          <a:lstStyle/>
          <a:p>
            <a:pPr marL="0" lvl="0" indent="0" algn="l" rtl="0">
              <a:spcBef>
                <a:spcPts val="1000"/>
              </a:spcBef>
              <a:spcAft>
                <a:spcPts val="0"/>
              </a:spcAft>
              <a:buClr>
                <a:schemeClr val="dk1"/>
              </a:buClr>
              <a:buSzPts val="1100"/>
              <a:buFont typeface="Arial"/>
              <a:buNone/>
            </a:pPr>
            <a:r>
              <a:rPr lang="en-GB" b="1" dirty="0"/>
              <a:t>Nomination:</a:t>
            </a:r>
            <a:r>
              <a:rPr lang="en-GB" dirty="0"/>
              <a:t> Nomination I</a:t>
            </a:r>
            <a:endParaRPr dirty="0"/>
          </a:p>
        </p:txBody>
      </p:sp>
      <p:sp>
        <p:nvSpPr>
          <p:cNvPr id="46" name="Google Shape;46;p6"/>
          <p:cNvSpPr txBox="1">
            <a:spLocks noGrp="1"/>
          </p:cNvSpPr>
          <p:nvPr>
            <p:ph type="body" idx="2"/>
          </p:nvPr>
        </p:nvSpPr>
        <p:spPr>
          <a:xfrm>
            <a:off x="322675" y="3914400"/>
            <a:ext cx="7170000" cy="941400"/>
          </a:xfrm>
          <a:prstGeom prst="rect">
            <a:avLst/>
          </a:prstGeom>
        </p:spPr>
        <p:txBody>
          <a:bodyPr spcFirstLastPara="1" wrap="square" lIns="0" tIns="0" rIns="0" bIns="0" anchor="t" anchorCtr="0">
            <a:normAutofit fontScale="85000" lnSpcReduction="20000"/>
          </a:bodyPr>
          <a:lstStyle/>
          <a:p>
            <a:pPr marL="0" lvl="0" indent="0" algn="l" rtl="0">
              <a:spcBef>
                <a:spcPts val="1000"/>
              </a:spcBef>
              <a:spcAft>
                <a:spcPts val="0"/>
              </a:spcAft>
              <a:buNone/>
            </a:pPr>
            <a:r>
              <a:rPr lang="en-GB" dirty="0"/>
              <a:t>Team </a:t>
            </a:r>
            <a:r>
              <a:rPr lang="en-US" b="1" dirty="0"/>
              <a:t>ABOBA</a:t>
            </a:r>
            <a:endParaRPr b="1" dirty="0"/>
          </a:p>
          <a:p>
            <a:pPr marL="0" indent="0"/>
            <a:r>
              <a:rPr lang="ru-RU" dirty="0"/>
              <a:t>National </a:t>
            </a:r>
            <a:r>
              <a:rPr lang="ru-RU" dirty="0" err="1"/>
              <a:t>Technical</a:t>
            </a:r>
            <a:r>
              <a:rPr lang="ru-RU" dirty="0"/>
              <a:t> University </a:t>
            </a:r>
            <a:r>
              <a:rPr lang="ru-RU" dirty="0" err="1"/>
              <a:t>of</a:t>
            </a:r>
            <a:r>
              <a:rPr lang="ru-RU" dirty="0"/>
              <a:t> Ukraine “</a:t>
            </a:r>
            <a:r>
              <a:rPr lang="ru-RU" dirty="0" err="1"/>
              <a:t>Igor</a:t>
            </a:r>
            <a:r>
              <a:rPr lang="ru-RU" dirty="0"/>
              <a:t> Sikorsky </a:t>
            </a:r>
            <a:r>
              <a:rPr lang="ru-RU" dirty="0" err="1"/>
              <a:t>Kyiv</a:t>
            </a:r>
            <a:r>
              <a:rPr lang="ru-RU" dirty="0"/>
              <a:t> </a:t>
            </a:r>
            <a:r>
              <a:rPr lang="ru-RU" dirty="0" err="1"/>
              <a:t>Polytechnic</a:t>
            </a:r>
            <a:r>
              <a:rPr lang="ru-RU" dirty="0"/>
              <a:t> Institute”</a:t>
            </a:r>
          </a:p>
          <a:p>
            <a:pPr marL="0" lvl="0" indent="0" algn="l" rtl="0">
              <a:spcBef>
                <a:spcPts val="1000"/>
              </a:spcBef>
              <a:spcAft>
                <a:spcPts val="0"/>
              </a:spcAft>
              <a:buNone/>
            </a:pPr>
            <a:endParaRPr dirty="0"/>
          </a:p>
        </p:txBody>
      </p:sp>
      <p:sp>
        <p:nvSpPr>
          <p:cNvPr id="47" name="Google Shape;47;p6"/>
          <p:cNvSpPr txBox="1">
            <a:spLocks noGrp="1"/>
          </p:cNvSpPr>
          <p:nvPr>
            <p:ph type="body" idx="2"/>
          </p:nvPr>
        </p:nvSpPr>
        <p:spPr>
          <a:xfrm>
            <a:off x="322675" y="5034600"/>
            <a:ext cx="7170000" cy="1505700"/>
          </a:xfrm>
          <a:prstGeom prst="rect">
            <a:avLst/>
          </a:prstGeom>
        </p:spPr>
        <p:txBody>
          <a:bodyPr spcFirstLastPara="1" wrap="square" lIns="0" tIns="0" rIns="0" bIns="0" anchor="t" anchorCtr="0">
            <a:normAutofit/>
          </a:bodyPr>
          <a:lstStyle/>
          <a:p>
            <a:pPr marL="0" lvl="0" indent="0" algn="l" rtl="0">
              <a:spcBef>
                <a:spcPts val="1000"/>
              </a:spcBef>
              <a:spcAft>
                <a:spcPts val="0"/>
              </a:spcAft>
              <a:buNone/>
            </a:pPr>
            <a:r>
              <a:rPr lang="en-GB" b="1" dirty="0"/>
              <a:t>Team members:</a:t>
            </a:r>
            <a:endParaRPr dirty="0"/>
          </a:p>
          <a:p>
            <a:pPr marL="0" lvl="0" indent="0" algn="l" rtl="0">
              <a:spcBef>
                <a:spcPts val="1000"/>
              </a:spcBef>
              <a:spcAft>
                <a:spcPts val="0"/>
              </a:spcAft>
              <a:buNone/>
            </a:pPr>
            <a:r>
              <a:rPr lang="en-GB" dirty="0" err="1"/>
              <a:t>Denysiuk</a:t>
            </a:r>
            <a:r>
              <a:rPr lang="en-GB" dirty="0"/>
              <a:t> Dmytro,</a:t>
            </a:r>
            <a:r>
              <a:rPr lang="ru-RU" dirty="0"/>
              <a:t> </a:t>
            </a:r>
            <a:r>
              <a:rPr lang="en-US" dirty="0"/>
              <a:t>Shcherbak Yaroslav</a:t>
            </a:r>
            <a:r>
              <a:rPr lang="en-GB" dirty="0"/>
              <a: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7"/>
          <p:cNvSpPr txBox="1">
            <a:spLocks noGrp="1"/>
          </p:cNvSpPr>
          <p:nvPr>
            <p:ph type="title"/>
          </p:nvPr>
        </p:nvSpPr>
        <p:spPr>
          <a:xfrm>
            <a:off x="322875" y="314575"/>
            <a:ext cx="10030800" cy="6594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a:t>Our Team</a:t>
            </a:r>
            <a:endParaRPr/>
          </a:p>
        </p:txBody>
      </p:sp>
      <p:sp>
        <p:nvSpPr>
          <p:cNvPr id="54" name="Google Shape;54;p7"/>
          <p:cNvSpPr>
            <a:spLocks noGrp="1"/>
          </p:cNvSpPr>
          <p:nvPr>
            <p:ph type="pic" idx="2"/>
          </p:nvPr>
        </p:nvSpPr>
        <p:spPr>
          <a:xfrm>
            <a:off x="1335775" y="1244575"/>
            <a:ext cx="1924800" cy="1924800"/>
          </a:xfrm>
          <a:prstGeom prst="ellipse">
            <a:avLst/>
          </a:prstGeom>
        </p:spPr>
        <p:txBody>
          <a:bodyPr/>
          <a:lstStyle/>
          <a:p>
            <a:endParaRPr lang="ru-RU"/>
          </a:p>
        </p:txBody>
      </p:sp>
      <p:sp>
        <p:nvSpPr>
          <p:cNvPr id="55" name="Google Shape;55;p7"/>
          <p:cNvSpPr txBox="1"/>
          <p:nvPr/>
        </p:nvSpPr>
        <p:spPr>
          <a:xfrm>
            <a:off x="708775" y="3356000"/>
            <a:ext cx="3178800" cy="2877300"/>
          </a:xfrm>
          <a:prstGeom prst="rect">
            <a:avLst/>
          </a:prstGeom>
          <a:noFill/>
          <a:ln>
            <a:noFill/>
          </a:ln>
        </p:spPr>
        <p:txBody>
          <a:bodyPr spcFirstLastPara="1" wrap="square" lIns="91425" tIns="91425" rIns="91425" bIns="91425" anchor="t" anchorCtr="0">
            <a:noAutofit/>
          </a:bodyPr>
          <a:lstStyle/>
          <a:p>
            <a:pPr lvl="0"/>
            <a:r>
              <a:rPr lang="en-US" sz="2200" b="1" dirty="0">
                <a:solidFill>
                  <a:schemeClr val="dk1"/>
                </a:solidFill>
              </a:rPr>
              <a:t>Dmytro </a:t>
            </a:r>
            <a:r>
              <a:rPr lang="en-US" sz="2200" b="1" dirty="0" err="1">
                <a:solidFill>
                  <a:schemeClr val="dk1"/>
                </a:solidFill>
              </a:rPr>
              <a:t>Denysiuk</a:t>
            </a:r>
            <a:endParaRPr sz="2200" b="1" dirty="0">
              <a:solidFill>
                <a:schemeClr val="dk1"/>
              </a:solidFill>
            </a:endParaRPr>
          </a:p>
          <a:p>
            <a:r>
              <a:rPr lang="ru-RU" dirty="0" err="1"/>
              <a:t>Faculty</a:t>
            </a:r>
            <a:r>
              <a:rPr lang="ru-RU" dirty="0"/>
              <a:t> </a:t>
            </a:r>
            <a:r>
              <a:rPr lang="ru-RU" dirty="0" err="1"/>
              <a:t>of</a:t>
            </a:r>
            <a:r>
              <a:rPr lang="ru-RU" dirty="0"/>
              <a:t> Program Systems </a:t>
            </a:r>
            <a:r>
              <a:rPr lang="ru-RU" dirty="0" err="1"/>
              <a:t>and</a:t>
            </a:r>
            <a:r>
              <a:rPr lang="ru-RU" dirty="0"/>
              <a:t> </a:t>
            </a:r>
            <a:r>
              <a:rPr lang="ru-RU" dirty="0" err="1"/>
              <a:t>Applied</a:t>
            </a:r>
            <a:r>
              <a:rPr lang="ru-RU" dirty="0"/>
              <a:t> </a:t>
            </a:r>
            <a:r>
              <a:rPr lang="ru-RU" dirty="0" err="1"/>
              <a:t>Mathematics</a:t>
            </a:r>
            <a:endParaRPr lang="ru-RU" dirty="0"/>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GB" sz="2000" b="1" dirty="0">
                <a:solidFill>
                  <a:schemeClr val="dk1"/>
                </a:solidFill>
              </a:rPr>
              <a:t>Role in the project:</a:t>
            </a:r>
            <a:endParaRPr sz="2000" dirty="0">
              <a:solidFill>
                <a:schemeClr val="dk1"/>
              </a:solidFill>
            </a:endParaRPr>
          </a:p>
          <a:p>
            <a:pPr marL="0" lvl="0" indent="0" algn="l" rtl="0">
              <a:spcBef>
                <a:spcPts val="0"/>
              </a:spcBef>
              <a:spcAft>
                <a:spcPts val="0"/>
              </a:spcAft>
              <a:buNone/>
            </a:pPr>
            <a:r>
              <a:rPr lang="en-GB" sz="2000" dirty="0">
                <a:solidFill>
                  <a:schemeClr val="dk1"/>
                </a:solidFill>
              </a:rPr>
              <a:t>3D modelling, design</a:t>
            </a:r>
            <a:endParaRPr sz="2000" dirty="0">
              <a:solidFill>
                <a:schemeClr val="dk1"/>
              </a:solidFill>
            </a:endParaRPr>
          </a:p>
        </p:txBody>
      </p:sp>
      <p:sp>
        <p:nvSpPr>
          <p:cNvPr id="56" name="Google Shape;56;p7"/>
          <p:cNvSpPr>
            <a:spLocks noGrp="1"/>
          </p:cNvSpPr>
          <p:nvPr>
            <p:ph type="pic" idx="2"/>
          </p:nvPr>
        </p:nvSpPr>
        <p:spPr>
          <a:xfrm>
            <a:off x="8931427" y="1244575"/>
            <a:ext cx="1924800" cy="1924800"/>
          </a:xfrm>
          <a:prstGeom prst="ellipse">
            <a:avLst/>
          </a:prstGeom>
        </p:spPr>
        <p:txBody>
          <a:bodyPr/>
          <a:lstStyle/>
          <a:p>
            <a:endParaRPr lang="ru-RU"/>
          </a:p>
        </p:txBody>
      </p:sp>
      <p:sp>
        <p:nvSpPr>
          <p:cNvPr id="57" name="Google Shape;57;p7"/>
          <p:cNvSpPr txBox="1"/>
          <p:nvPr/>
        </p:nvSpPr>
        <p:spPr>
          <a:xfrm>
            <a:off x="8304427" y="3356000"/>
            <a:ext cx="3178800" cy="2877300"/>
          </a:xfrm>
          <a:prstGeom prst="rect">
            <a:avLst/>
          </a:prstGeom>
          <a:noFill/>
          <a:ln>
            <a:noFill/>
          </a:ln>
        </p:spPr>
        <p:txBody>
          <a:bodyPr spcFirstLastPara="1" wrap="square" lIns="91425" tIns="91425" rIns="91425" bIns="91425" anchor="t" anchorCtr="0">
            <a:noAutofit/>
          </a:bodyPr>
          <a:lstStyle/>
          <a:p>
            <a:pPr lvl="0"/>
            <a:r>
              <a:rPr lang="en-US" sz="2400" b="1" dirty="0"/>
              <a:t>Yaroslav Shcherbak </a:t>
            </a:r>
          </a:p>
          <a:p>
            <a:pPr lvl="0"/>
            <a:r>
              <a:rPr lang="ru-RU" dirty="0" err="1"/>
              <a:t>Faculty</a:t>
            </a:r>
            <a:r>
              <a:rPr lang="ru-RU" dirty="0"/>
              <a:t> </a:t>
            </a:r>
            <a:r>
              <a:rPr lang="ru-RU" dirty="0" err="1"/>
              <a:t>of</a:t>
            </a:r>
            <a:r>
              <a:rPr lang="ru-RU" dirty="0"/>
              <a:t> Program Systems </a:t>
            </a:r>
            <a:r>
              <a:rPr lang="ru-RU" dirty="0" err="1"/>
              <a:t>and</a:t>
            </a:r>
            <a:r>
              <a:rPr lang="ru-RU" dirty="0"/>
              <a:t> </a:t>
            </a:r>
            <a:r>
              <a:rPr lang="ru-RU" dirty="0" err="1"/>
              <a:t>Applied</a:t>
            </a:r>
            <a:r>
              <a:rPr lang="ru-RU" dirty="0"/>
              <a:t> </a:t>
            </a:r>
            <a:r>
              <a:rPr lang="ru-RU" dirty="0" err="1"/>
              <a:t>Mathematics</a:t>
            </a:r>
            <a:endParaRPr lang="ru-RU" dirty="0"/>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GB" sz="2000" b="1" dirty="0">
                <a:solidFill>
                  <a:schemeClr val="dk1"/>
                </a:solidFill>
              </a:rPr>
              <a:t>Role in the project:</a:t>
            </a:r>
            <a:endParaRPr sz="2000" dirty="0">
              <a:solidFill>
                <a:schemeClr val="dk1"/>
              </a:solidFill>
            </a:endParaRPr>
          </a:p>
          <a:p>
            <a:pPr marL="0" lvl="0" indent="0" algn="l" rtl="0">
              <a:spcBef>
                <a:spcPts val="0"/>
              </a:spcBef>
              <a:spcAft>
                <a:spcPts val="0"/>
              </a:spcAft>
              <a:buNone/>
            </a:pPr>
            <a:r>
              <a:rPr lang="en-GB" sz="2000" dirty="0" err="1">
                <a:solidFill>
                  <a:schemeClr val="dk1"/>
                </a:solidFill>
              </a:rPr>
              <a:t>VRChat</a:t>
            </a:r>
            <a:r>
              <a:rPr lang="en-GB" sz="2000" dirty="0">
                <a:solidFill>
                  <a:schemeClr val="dk1"/>
                </a:solidFill>
              </a:rPr>
              <a:t> development</a:t>
            </a:r>
            <a:endParaRPr sz="2000" dirty="0">
              <a:solidFill>
                <a:schemeClr val="dk1"/>
              </a:solidFill>
            </a:endParaRPr>
          </a:p>
        </p:txBody>
      </p:sp>
      <p:sp>
        <p:nvSpPr>
          <p:cNvPr id="61" name="Google Shape;61;p7"/>
          <p:cNvSpPr txBox="1">
            <a:spLocks noGrp="1"/>
          </p:cNvSpPr>
          <p:nvPr>
            <p:ph type="sldNum" idx="12"/>
          </p:nvPr>
        </p:nvSpPr>
        <p:spPr>
          <a:xfrm>
            <a:off x="8610599" y="6356350"/>
            <a:ext cx="3258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GB"/>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8"/>
          <p:cNvSpPr txBox="1">
            <a:spLocks noGrp="1"/>
          </p:cNvSpPr>
          <p:nvPr>
            <p:ph type="body" idx="1"/>
          </p:nvPr>
        </p:nvSpPr>
        <p:spPr>
          <a:xfrm>
            <a:off x="322725" y="1201400"/>
            <a:ext cx="11546400" cy="5076600"/>
          </a:xfrm>
          <a:prstGeom prst="rect">
            <a:avLst/>
          </a:prstGeom>
        </p:spPr>
        <p:txBody>
          <a:bodyPr spcFirstLastPara="1" wrap="square" lIns="0" tIns="0" rIns="0" bIns="0" anchor="t" anchorCtr="0">
            <a:normAutofit/>
          </a:bodyPr>
          <a:lstStyle/>
          <a:p>
            <a:pPr marL="0" lvl="0" indent="0" algn="l" rtl="0">
              <a:spcBef>
                <a:spcPts val="1000"/>
              </a:spcBef>
              <a:spcAft>
                <a:spcPts val="0"/>
              </a:spcAft>
              <a:buNone/>
            </a:pPr>
            <a:r>
              <a:rPr lang="en-GB" sz="2400" b="1" dirty="0"/>
              <a:t>SELECTED LOCATION</a:t>
            </a:r>
            <a:endParaRPr sz="2400" b="1" dirty="0"/>
          </a:p>
          <a:p>
            <a:pPr marL="0" lvl="0" indent="0"/>
            <a:r>
              <a:rPr lang="ru-RU" sz="2000" dirty="0"/>
              <a:t>KPI </a:t>
            </a:r>
            <a:r>
              <a:rPr lang="ru-RU" sz="2000" dirty="0" err="1"/>
              <a:t>Faculty</a:t>
            </a:r>
            <a:r>
              <a:rPr lang="ru-RU" sz="2000" dirty="0"/>
              <a:t> </a:t>
            </a:r>
            <a:r>
              <a:rPr lang="ru-RU" sz="2000" dirty="0" err="1"/>
              <a:t>of</a:t>
            </a:r>
            <a:r>
              <a:rPr lang="ru-RU" sz="2000" dirty="0"/>
              <a:t> </a:t>
            </a:r>
            <a:r>
              <a:rPr lang="ru-RU" sz="2000" dirty="0" err="1"/>
              <a:t>Informatics</a:t>
            </a:r>
            <a:r>
              <a:rPr lang="ru-RU" sz="2000" dirty="0"/>
              <a:t> </a:t>
            </a:r>
            <a:r>
              <a:rPr lang="ru-RU" sz="2000" dirty="0" err="1"/>
              <a:t>and</a:t>
            </a:r>
            <a:r>
              <a:rPr lang="ru-RU" sz="2000" dirty="0"/>
              <a:t> Computing Technology (FICT), Building 18, </a:t>
            </a:r>
            <a:r>
              <a:rPr lang="ru-RU" sz="2000" dirty="0" err="1"/>
              <a:t>Generalized</a:t>
            </a:r>
            <a:r>
              <a:rPr lang="ru-RU" sz="2000" dirty="0"/>
              <a:t> Virtual </a:t>
            </a:r>
            <a:r>
              <a:rPr lang="ru-RU" sz="2000" dirty="0" err="1"/>
              <a:t>Hub</a:t>
            </a:r>
            <a:r>
              <a:rPr lang="ru-RU" sz="2000" dirty="0"/>
              <a:t> </a:t>
            </a:r>
            <a:r>
              <a:rPr lang="ru-RU" sz="2000" dirty="0" err="1"/>
              <a:t>This</a:t>
            </a:r>
            <a:r>
              <a:rPr lang="ru-RU" sz="2000" dirty="0"/>
              <a:t> </a:t>
            </a:r>
            <a:r>
              <a:rPr lang="ru-RU" sz="2000" dirty="0" err="1"/>
              <a:t>virtual</a:t>
            </a:r>
            <a:r>
              <a:rPr lang="ru-RU" sz="2000" dirty="0"/>
              <a:t> </a:t>
            </a:r>
            <a:r>
              <a:rPr lang="ru-RU" sz="2000" dirty="0" err="1"/>
              <a:t>environment</a:t>
            </a:r>
            <a:r>
              <a:rPr lang="ru-RU" sz="2000" dirty="0"/>
              <a:t> </a:t>
            </a:r>
            <a:r>
              <a:rPr lang="ru-RU" sz="2000" dirty="0" err="1"/>
              <a:t>is</a:t>
            </a:r>
            <a:r>
              <a:rPr lang="ru-RU" sz="2000" dirty="0"/>
              <a:t> a </a:t>
            </a:r>
            <a:r>
              <a:rPr lang="ru-RU" sz="2000" dirty="0" err="1"/>
              <a:t>prototypical</a:t>
            </a:r>
            <a:r>
              <a:rPr lang="ru-RU" sz="2000" dirty="0"/>
              <a:t> </a:t>
            </a:r>
            <a:r>
              <a:rPr lang="ru-RU" sz="2000" dirty="0" err="1"/>
              <a:t>representation</a:t>
            </a:r>
            <a:r>
              <a:rPr lang="ru-RU" sz="2000" dirty="0"/>
              <a:t> </a:t>
            </a:r>
            <a:r>
              <a:rPr lang="ru-RU" sz="2000" dirty="0" err="1"/>
              <a:t>inspired</a:t>
            </a:r>
            <a:r>
              <a:rPr lang="ru-RU" sz="2000" dirty="0"/>
              <a:t> </a:t>
            </a:r>
            <a:r>
              <a:rPr lang="ru-RU" sz="2000" dirty="0" err="1"/>
              <a:t>by</a:t>
            </a:r>
            <a:r>
              <a:rPr lang="ru-RU" sz="2000" dirty="0"/>
              <a:t> </a:t>
            </a:r>
            <a:r>
              <a:rPr lang="ru-RU" sz="2000" dirty="0" err="1"/>
              <a:t>the</a:t>
            </a:r>
            <a:r>
              <a:rPr lang="ru-RU" sz="2000" dirty="0"/>
              <a:t> </a:t>
            </a:r>
            <a:r>
              <a:rPr lang="ru-RU" sz="2000" dirty="0" err="1"/>
              <a:t>modern</a:t>
            </a:r>
            <a:r>
              <a:rPr lang="ru-RU" sz="2000" dirty="0"/>
              <a:t> </a:t>
            </a:r>
            <a:r>
              <a:rPr lang="ru-RU" sz="2000" dirty="0" err="1"/>
              <a:t>educational</a:t>
            </a:r>
            <a:r>
              <a:rPr lang="ru-RU" sz="2000" dirty="0"/>
              <a:t> </a:t>
            </a:r>
            <a:r>
              <a:rPr lang="ru-RU" sz="2000" dirty="0" err="1"/>
              <a:t>and</a:t>
            </a:r>
            <a:r>
              <a:rPr lang="ru-RU" sz="2000" dirty="0"/>
              <a:t> </a:t>
            </a:r>
            <a:r>
              <a:rPr lang="ru-RU" sz="2000" dirty="0" err="1"/>
              <a:t>collaborative</a:t>
            </a:r>
            <a:r>
              <a:rPr lang="ru-RU" sz="2000" dirty="0"/>
              <a:t> </a:t>
            </a:r>
            <a:r>
              <a:rPr lang="ru-RU" sz="2000" dirty="0" err="1"/>
              <a:t>hubs</a:t>
            </a:r>
            <a:r>
              <a:rPr lang="ru-RU" sz="2000" dirty="0"/>
              <a:t> </a:t>
            </a:r>
            <a:r>
              <a:rPr lang="ru-RU" sz="2000" dirty="0" err="1"/>
              <a:t>within</a:t>
            </a:r>
            <a:r>
              <a:rPr lang="ru-RU" sz="2000" dirty="0"/>
              <a:t> Building 18, </a:t>
            </a:r>
            <a:r>
              <a:rPr lang="ru-RU" sz="2000" dirty="0" err="1"/>
              <a:t>primarily</a:t>
            </a:r>
            <a:r>
              <a:rPr lang="ru-RU" sz="2000" dirty="0"/>
              <a:t> </a:t>
            </a:r>
            <a:r>
              <a:rPr lang="ru-RU" sz="2000" dirty="0" err="1"/>
              <a:t>serving</a:t>
            </a:r>
            <a:r>
              <a:rPr lang="ru-RU" sz="2000" dirty="0"/>
              <a:t> </a:t>
            </a:r>
            <a:r>
              <a:rPr lang="ru-RU" sz="2000" dirty="0" err="1"/>
              <a:t>the</a:t>
            </a:r>
            <a:r>
              <a:rPr lang="ru-RU" sz="2000" dirty="0"/>
              <a:t> </a:t>
            </a:r>
            <a:r>
              <a:rPr lang="ru-RU" sz="2000" dirty="0" err="1"/>
              <a:t>Faculty</a:t>
            </a:r>
            <a:r>
              <a:rPr lang="ru-RU" sz="2000" dirty="0"/>
              <a:t> </a:t>
            </a:r>
            <a:r>
              <a:rPr lang="ru-RU" sz="2000" dirty="0" err="1"/>
              <a:t>of</a:t>
            </a:r>
            <a:r>
              <a:rPr lang="ru-RU" sz="2000" dirty="0"/>
              <a:t> </a:t>
            </a:r>
            <a:r>
              <a:rPr lang="ru-RU" sz="2000" dirty="0" err="1"/>
              <a:t>Informatics</a:t>
            </a:r>
            <a:r>
              <a:rPr lang="ru-RU" sz="2000" dirty="0"/>
              <a:t> </a:t>
            </a:r>
            <a:r>
              <a:rPr lang="ru-RU" sz="2000" dirty="0" err="1"/>
              <a:t>and</a:t>
            </a:r>
            <a:r>
              <a:rPr lang="ru-RU" sz="2000" dirty="0"/>
              <a:t> Computing Technology. </a:t>
            </a:r>
            <a:r>
              <a:rPr lang="ru-RU" sz="2000" dirty="0" err="1"/>
              <a:t>Rather</a:t>
            </a:r>
            <a:r>
              <a:rPr lang="ru-RU" sz="2000" dirty="0"/>
              <a:t> </a:t>
            </a:r>
            <a:r>
              <a:rPr lang="ru-RU" sz="2000" dirty="0" err="1"/>
              <a:t>than</a:t>
            </a:r>
            <a:r>
              <a:rPr lang="ru-RU" sz="2000" dirty="0"/>
              <a:t> a 1:1 </a:t>
            </a:r>
            <a:r>
              <a:rPr lang="ru-RU" sz="2000" dirty="0" err="1"/>
              <a:t>scan</a:t>
            </a:r>
            <a:r>
              <a:rPr lang="ru-RU" sz="2000" dirty="0"/>
              <a:t> </a:t>
            </a:r>
            <a:r>
              <a:rPr lang="ru-RU" sz="2000" dirty="0" err="1"/>
              <a:t>of</a:t>
            </a:r>
            <a:r>
              <a:rPr lang="ru-RU" sz="2000" dirty="0"/>
              <a:t> a </a:t>
            </a:r>
            <a:r>
              <a:rPr lang="ru-RU" sz="2000" dirty="0" err="1"/>
              <a:t>specific</a:t>
            </a:r>
            <a:r>
              <a:rPr lang="ru-RU" sz="2000" dirty="0"/>
              <a:t> </a:t>
            </a:r>
            <a:r>
              <a:rPr lang="ru-RU" sz="2000" dirty="0" err="1"/>
              <a:t>lab</a:t>
            </a:r>
            <a:r>
              <a:rPr lang="ru-RU" sz="2000" dirty="0"/>
              <a:t>, </a:t>
            </a:r>
            <a:r>
              <a:rPr lang="ru-RU" sz="2000" dirty="0" err="1"/>
              <a:t>it</a:t>
            </a:r>
            <a:r>
              <a:rPr lang="ru-RU" sz="2000" dirty="0"/>
              <a:t> </a:t>
            </a:r>
            <a:r>
              <a:rPr lang="ru-RU" sz="2000" dirty="0" err="1"/>
              <a:t>captures</a:t>
            </a:r>
            <a:r>
              <a:rPr lang="ru-RU" sz="2000" dirty="0"/>
              <a:t> </a:t>
            </a:r>
            <a:r>
              <a:rPr lang="ru-RU" sz="2000" dirty="0" err="1"/>
              <a:t>the</a:t>
            </a:r>
            <a:r>
              <a:rPr lang="ru-RU" sz="2000" dirty="0"/>
              <a:t> </a:t>
            </a:r>
            <a:r>
              <a:rPr lang="ru-RU" sz="2000" dirty="0" err="1"/>
              <a:t>layout</a:t>
            </a:r>
            <a:r>
              <a:rPr lang="ru-RU" sz="2000" dirty="0"/>
              <a:t> </a:t>
            </a:r>
            <a:r>
              <a:rPr lang="ru-RU" sz="2000" dirty="0" err="1"/>
              <a:t>and</a:t>
            </a:r>
            <a:r>
              <a:rPr lang="ru-RU" sz="2000" dirty="0"/>
              <a:t> </a:t>
            </a:r>
            <a:r>
              <a:rPr lang="ru-RU" sz="2000" dirty="0" err="1"/>
              <a:t>technical</a:t>
            </a:r>
            <a:r>
              <a:rPr lang="ru-RU" sz="2000" dirty="0"/>
              <a:t> </a:t>
            </a:r>
            <a:r>
              <a:rPr lang="ru-RU" sz="2000" dirty="0" err="1"/>
              <a:t>atmosphere</a:t>
            </a:r>
            <a:r>
              <a:rPr lang="ru-RU" sz="2000" dirty="0"/>
              <a:t> </a:t>
            </a:r>
            <a:r>
              <a:rPr lang="ru-RU" sz="2000" dirty="0" err="1"/>
              <a:t>of</a:t>
            </a:r>
            <a:r>
              <a:rPr lang="ru-RU" sz="2000" dirty="0"/>
              <a:t> </a:t>
            </a:r>
            <a:r>
              <a:rPr lang="ru-RU" sz="2000" dirty="0" err="1"/>
              <a:t>reconfigurable</a:t>
            </a:r>
            <a:r>
              <a:rPr lang="ru-RU" sz="2000" dirty="0"/>
              <a:t> </a:t>
            </a:r>
            <a:r>
              <a:rPr lang="ru-RU" sz="2000" dirty="0" err="1"/>
              <a:t>spaces</a:t>
            </a:r>
            <a:r>
              <a:rPr lang="ru-RU" sz="2000" dirty="0"/>
              <a:t>.</a:t>
            </a:r>
          </a:p>
          <a:p>
            <a:pPr marL="0" lvl="0" indent="0"/>
            <a:r>
              <a:rPr lang="en-GB" sz="2400" b="1" dirty="0"/>
              <a:t>MODELLED SCOPE</a:t>
            </a:r>
            <a:endParaRPr sz="2400" b="1" dirty="0"/>
          </a:p>
          <a:p>
            <a:pPr lvl="0" indent="-374650">
              <a:buSzPts val="2300"/>
              <a:buChar char="●"/>
            </a:pPr>
            <a:r>
              <a:rPr lang="en-US" sz="2300" dirty="0"/>
              <a:t>The central presentation and instructional zone, featuring the speaker's podium and reconfigurable seating for students.</a:t>
            </a:r>
            <a:endParaRPr lang="ru-RU" sz="2300" dirty="0"/>
          </a:p>
          <a:p>
            <a:pPr lvl="0" indent="-374650">
              <a:buSzPts val="2300"/>
              <a:buChar char="●"/>
            </a:pPr>
            <a:r>
              <a:rPr lang="en-US" sz="2300" dirty="0"/>
              <a:t>The main presentation wall equipped with a large digital screen for educational materials and event branding.</a:t>
            </a:r>
            <a:endParaRPr lang="ru-RU" sz="2300" dirty="0"/>
          </a:p>
          <a:p>
            <a:pPr lvl="0" indent="-374650">
              <a:buSzPts val="2300"/>
              <a:buChar char="●"/>
            </a:pPr>
            <a:r>
              <a:rPr lang="en-US" sz="2300" dirty="0"/>
              <a:t>Adapted interior architectural elements based on the real FICT Hub at KPI, including the side windows for natural lighting, entrance doors, and ceiling lights.</a:t>
            </a:r>
            <a:r>
              <a:rPr lang="ru-RU" sz="2300"/>
              <a:t>	</a:t>
            </a:r>
            <a:endParaRPr sz="2000" dirty="0"/>
          </a:p>
        </p:txBody>
      </p:sp>
      <p:sp>
        <p:nvSpPr>
          <p:cNvPr id="68" name="Google Shape;68;p8"/>
          <p:cNvSpPr txBox="1">
            <a:spLocks noGrp="1"/>
          </p:cNvSpPr>
          <p:nvPr>
            <p:ph type="title"/>
          </p:nvPr>
        </p:nvSpPr>
        <p:spPr>
          <a:xfrm>
            <a:off x="322875" y="314575"/>
            <a:ext cx="9905700" cy="786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a:t>Selected Location</a:t>
            </a:r>
            <a:endParaRPr/>
          </a:p>
        </p:txBody>
      </p:sp>
      <p:sp>
        <p:nvSpPr>
          <p:cNvPr id="69" name="Google Shape;69;p8"/>
          <p:cNvSpPr txBox="1">
            <a:spLocks noGrp="1"/>
          </p:cNvSpPr>
          <p:nvPr>
            <p:ph type="sldNum" idx="12"/>
          </p:nvPr>
        </p:nvSpPr>
        <p:spPr>
          <a:xfrm>
            <a:off x="8610599" y="6356350"/>
            <a:ext cx="3258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9"/>
          <p:cNvSpPr txBox="1">
            <a:spLocks noGrp="1"/>
          </p:cNvSpPr>
          <p:nvPr>
            <p:ph type="title"/>
          </p:nvPr>
        </p:nvSpPr>
        <p:spPr>
          <a:xfrm>
            <a:off x="322875" y="314575"/>
            <a:ext cx="10030800" cy="1144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a:t>Selected Location</a:t>
            </a:r>
            <a:endParaRPr/>
          </a:p>
        </p:txBody>
      </p:sp>
      <p:sp>
        <p:nvSpPr>
          <p:cNvPr id="78" name="Google Shape;78;p9"/>
          <p:cNvSpPr txBox="1">
            <a:spLocks noGrp="1"/>
          </p:cNvSpPr>
          <p:nvPr>
            <p:ph type="sldNum" idx="12"/>
          </p:nvPr>
        </p:nvSpPr>
        <p:spPr>
          <a:xfrm>
            <a:off x="8610599" y="6356350"/>
            <a:ext cx="3258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GB"/>
              <a:t>4</a:t>
            </a:fld>
            <a:endParaRPr/>
          </a:p>
        </p:txBody>
      </p:sp>
      <p:pic>
        <p:nvPicPr>
          <p:cNvPr id="3" name="Рисунок 2">
            <a:extLst>
              <a:ext uri="{FF2B5EF4-FFF2-40B4-BE49-F238E27FC236}">
                <a16:creationId xmlns:a16="http://schemas.microsoft.com/office/drawing/2014/main" id="{5B824F0C-80EC-04E6-290B-EED2D9BBBA00}"/>
              </a:ext>
            </a:extLst>
          </p:cNvPr>
          <p:cNvPicPr>
            <a:picLocks noChangeAspect="1"/>
          </p:cNvPicPr>
          <p:nvPr/>
        </p:nvPicPr>
        <p:blipFill>
          <a:blip r:embed="rId3"/>
          <a:stretch>
            <a:fillRect/>
          </a:stretch>
        </p:blipFill>
        <p:spPr>
          <a:xfrm>
            <a:off x="974702" y="1465860"/>
            <a:ext cx="10242595" cy="48991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0"/>
          <p:cNvSpPr txBox="1">
            <a:spLocks noGrp="1"/>
          </p:cNvSpPr>
          <p:nvPr>
            <p:ph type="title"/>
          </p:nvPr>
        </p:nvSpPr>
        <p:spPr>
          <a:xfrm>
            <a:off x="322875" y="314575"/>
            <a:ext cx="10030800" cy="1144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a:t>Virtual Model</a:t>
            </a:r>
            <a:endParaRPr/>
          </a:p>
        </p:txBody>
      </p:sp>
      <p:sp>
        <p:nvSpPr>
          <p:cNvPr id="85" name="Google Shape;85;p10"/>
          <p:cNvSpPr txBox="1"/>
          <p:nvPr/>
        </p:nvSpPr>
        <p:spPr>
          <a:xfrm>
            <a:off x="322800" y="5650000"/>
            <a:ext cx="7315200" cy="85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400" dirty="0">
                <a:solidFill>
                  <a:schemeClr val="dk1"/>
                </a:solidFill>
              </a:rPr>
              <a:t>The lecture hall rebuilt for </a:t>
            </a:r>
            <a:r>
              <a:rPr lang="en-GB" sz="1400" dirty="0" err="1">
                <a:solidFill>
                  <a:schemeClr val="dk1"/>
                </a:solidFill>
              </a:rPr>
              <a:t>VRChat</a:t>
            </a:r>
            <a:r>
              <a:rPr lang="en-GB" sz="1400" dirty="0">
                <a:solidFill>
                  <a:schemeClr val="dk1"/>
                </a:solidFill>
              </a:rPr>
              <a:t>: the presentation wall with an interactive board, the speaker's podium and 48 seats, each with its own tablet.</a:t>
            </a:r>
          </a:p>
        </p:txBody>
      </p:sp>
      <p:sp>
        <p:nvSpPr>
          <p:cNvPr id="87" name="Google Shape;87;p10"/>
          <p:cNvSpPr txBox="1">
            <a:spLocks noGrp="1"/>
          </p:cNvSpPr>
          <p:nvPr>
            <p:ph type="sldNum" idx="12"/>
          </p:nvPr>
        </p:nvSpPr>
        <p:spPr>
          <a:xfrm>
            <a:off x="8610599" y="6356350"/>
            <a:ext cx="3258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GB"/>
              <a:t>5</a:t>
            </a:fld>
            <a:endParaRPr/>
          </a:p>
        </p:txBody>
      </p:sp>
      <p:pic>
        <p:nvPicPr>
          <p:cNvPr id="901" name="Screenshot 901"/>
          <p:cNvPicPr preferRelativeResize="0"/>
          <p:nvPr/>
        </p:nvPicPr>
        <p:blipFill>
          <a:blip r:embed="rId3"/>
          <a:stretch>
            <a:fillRect/>
          </a:stretch>
        </p:blipFill>
        <p:spPr>
          <a:xfrm>
            <a:off x="322800" y="1459375"/>
            <a:ext cx="7315200" cy="4114800"/>
          </a:xfrm>
          <a:prstGeom prst="rect">
            <a:avLst/>
          </a:prstGeom>
          <a:ln w="9525">
            <a:solidFill>
              <a:srgbClr val="C9CCD2"/>
            </a:solidFill>
          </a:ln>
        </p:spPr>
      </p:pic>
      <p:pic>
        <p:nvPicPr>
          <p:cNvPr id="902" name="Screenshot 902"/>
          <p:cNvPicPr preferRelativeResize="0"/>
          <p:nvPr/>
        </p:nvPicPr>
        <p:blipFill>
          <a:blip r:embed="rId4"/>
          <a:stretch>
            <a:fillRect/>
          </a:stretch>
        </p:blipFill>
        <p:spPr>
          <a:xfrm>
            <a:off x="7838000" y="1459375"/>
            <a:ext cx="4031200" cy="2267550"/>
          </a:xfrm>
          <a:prstGeom prst="rect">
            <a:avLst/>
          </a:prstGeom>
          <a:ln w="9525">
            <a:solidFill>
              <a:srgbClr val="C9CCD2"/>
            </a:solidFill>
          </a:ln>
        </p:spPr>
      </p:pic>
      <p:pic>
        <p:nvPicPr>
          <p:cNvPr id="903" name="Screenshot 903"/>
          <p:cNvPicPr preferRelativeResize="0"/>
          <p:nvPr/>
        </p:nvPicPr>
        <p:blipFill>
          <a:blip r:embed="rId5"/>
          <a:stretch>
            <a:fillRect/>
          </a:stretch>
        </p:blipFill>
        <p:spPr>
          <a:xfrm>
            <a:off x="7838000" y="3880000"/>
            <a:ext cx="4031200" cy="2267550"/>
          </a:xfrm>
          <a:prstGeom prst="rect">
            <a:avLst/>
          </a:prstGeom>
          <a:ln w="9525">
            <a:solidFill>
              <a:srgbClr val="C9CCD2"/>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1"/>
          <p:cNvSpPr txBox="1">
            <a:spLocks noGrp="1"/>
          </p:cNvSpPr>
          <p:nvPr>
            <p:ph type="title"/>
          </p:nvPr>
        </p:nvSpPr>
        <p:spPr>
          <a:xfrm>
            <a:off x="322875" y="314575"/>
            <a:ext cx="10089900" cy="8019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dirty="0"/>
              <a:t>Digital Artefacts</a:t>
            </a:r>
            <a:endParaRPr dirty="0"/>
          </a:p>
        </p:txBody>
      </p:sp>
      <p:sp>
        <p:nvSpPr>
          <p:cNvPr id="94" name="Google Shape;94;p11"/>
          <p:cNvSpPr txBox="1">
            <a:spLocks noGrp="1"/>
          </p:cNvSpPr>
          <p:nvPr>
            <p:ph type="body" idx="1"/>
          </p:nvPr>
        </p:nvSpPr>
        <p:spPr>
          <a:xfrm>
            <a:off x="438675" y="1198350"/>
            <a:ext cx="3258600" cy="672000"/>
          </a:xfrm>
          <a:prstGeom prst="rect">
            <a:avLst/>
          </a:prstGeom>
        </p:spPr>
        <p:txBody>
          <a:bodyPr spcFirstLastPara="1" wrap="square" lIns="0" tIns="0" rIns="0" bIns="0" anchor="t" anchorCtr="0">
            <a:normAutofit/>
          </a:bodyPr>
          <a:lstStyle/>
          <a:p>
            <a:pPr marL="0" lvl="0" indent="0" algn="ctr" rtl="0">
              <a:spcBef>
                <a:spcPts val="1000"/>
              </a:spcBef>
              <a:spcAft>
                <a:spcPts val="0"/>
              </a:spcAft>
              <a:buNone/>
            </a:pPr>
            <a:r>
              <a:rPr lang="en-GB" sz="2200" b="1" dirty="0"/>
              <a:t>Presentation board</a:t>
            </a:r>
          </a:p>
        </p:txBody>
      </p:sp>
      <p:sp>
        <p:nvSpPr>
          <p:cNvPr id="96" name="Google Shape;96;p11"/>
          <p:cNvSpPr txBox="1">
            <a:spLocks noGrp="1"/>
          </p:cNvSpPr>
          <p:nvPr>
            <p:ph type="body" idx="1"/>
          </p:nvPr>
        </p:nvSpPr>
        <p:spPr>
          <a:xfrm>
            <a:off x="163350" y="5453950"/>
            <a:ext cx="3809400" cy="998100"/>
          </a:xfrm>
          <a:prstGeom prst="rect">
            <a:avLst/>
          </a:prstGeom>
        </p:spPr>
        <p:txBody>
          <a:bodyPr spcFirstLastPara="1" wrap="square" lIns="0" tIns="0" rIns="0" bIns="0" anchor="t" anchorCtr="0">
            <a:normAutofit/>
          </a:bodyPr>
          <a:lstStyle/>
          <a:p>
            <a:pPr marL="0" lvl="0" indent="0" algn="l" rtl="0">
              <a:spcBef>
                <a:spcPts val="1000"/>
              </a:spcBef>
              <a:spcAft>
                <a:spcPts val="0"/>
              </a:spcAft>
              <a:buNone/>
            </a:pPr>
            <a:r>
              <a:rPr lang="en-GB" sz="1200"/>
              <a:t>Plays video by URL, converted slide decks and images shipped with the world. Everyone sees the same frame; latecomers join at the current moment.</a:t>
            </a:r>
          </a:p>
        </p:txBody>
      </p:sp>
      <p:sp>
        <p:nvSpPr>
          <p:cNvPr id="97" name="Google Shape;97;p11"/>
          <p:cNvSpPr txBox="1">
            <a:spLocks noGrp="1"/>
          </p:cNvSpPr>
          <p:nvPr>
            <p:ph type="body" idx="1"/>
          </p:nvPr>
        </p:nvSpPr>
        <p:spPr>
          <a:xfrm>
            <a:off x="4466613" y="1198350"/>
            <a:ext cx="3258600" cy="672000"/>
          </a:xfrm>
          <a:prstGeom prst="rect">
            <a:avLst/>
          </a:prstGeom>
        </p:spPr>
        <p:txBody>
          <a:bodyPr spcFirstLastPara="1" wrap="square" lIns="0" tIns="0" rIns="0" bIns="0" anchor="t" anchorCtr="0">
            <a:normAutofit/>
          </a:bodyPr>
          <a:lstStyle/>
          <a:p>
            <a:pPr marL="0" lvl="0" indent="0" algn="ctr" rtl="0">
              <a:spcBef>
                <a:spcPts val="1000"/>
              </a:spcBef>
              <a:spcAft>
                <a:spcPts val="0"/>
              </a:spcAft>
              <a:buNone/>
            </a:pPr>
            <a:r>
              <a:rPr lang="en-GB" sz="2200" b="1" dirty="0"/>
              <a:t>Presenter's desk</a:t>
            </a:r>
          </a:p>
        </p:txBody>
      </p:sp>
      <p:sp>
        <p:nvSpPr>
          <p:cNvPr id="99" name="Google Shape;99;p11"/>
          <p:cNvSpPr txBox="1">
            <a:spLocks noGrp="1"/>
          </p:cNvSpPr>
          <p:nvPr>
            <p:ph type="body" idx="1"/>
          </p:nvPr>
        </p:nvSpPr>
        <p:spPr>
          <a:xfrm>
            <a:off x="4191288" y="5453950"/>
            <a:ext cx="3809400" cy="998100"/>
          </a:xfrm>
          <a:prstGeom prst="rect">
            <a:avLst/>
          </a:prstGeom>
        </p:spPr>
        <p:txBody>
          <a:bodyPr spcFirstLastPara="1" wrap="square" lIns="0" tIns="0" rIns="0" bIns="0" anchor="t" anchorCtr="0">
            <a:normAutofit/>
          </a:bodyPr>
          <a:lstStyle/>
          <a:p>
            <a:pPr marL="0" lvl="0" indent="0" algn="l" rtl="0">
              <a:spcBef>
                <a:spcPts val="1000"/>
              </a:spcBef>
              <a:spcAft>
                <a:spcPts val="0"/>
              </a:spcAft>
              <a:buNone/>
            </a:pPr>
            <a:r>
              <a:rPr lang="en-GB" sz="1200" dirty="0"/>
              <a:t>Controls the board and hands out presenter rights: a visitor sends a request, the desk grants it or takes it back.</a:t>
            </a:r>
          </a:p>
        </p:txBody>
      </p:sp>
      <p:sp>
        <p:nvSpPr>
          <p:cNvPr id="100" name="Google Shape;100;p11"/>
          <p:cNvSpPr txBox="1">
            <a:spLocks noGrp="1"/>
          </p:cNvSpPr>
          <p:nvPr>
            <p:ph type="body" idx="1"/>
          </p:nvPr>
        </p:nvSpPr>
        <p:spPr>
          <a:xfrm>
            <a:off x="8494638" y="1198350"/>
            <a:ext cx="3258600" cy="672000"/>
          </a:xfrm>
          <a:prstGeom prst="rect">
            <a:avLst/>
          </a:prstGeom>
        </p:spPr>
        <p:txBody>
          <a:bodyPr spcFirstLastPara="1" wrap="square" lIns="0" tIns="0" rIns="0" bIns="0" anchor="t" anchorCtr="0">
            <a:normAutofit/>
          </a:bodyPr>
          <a:lstStyle/>
          <a:p>
            <a:pPr marL="0" lvl="0" indent="0" algn="ctr" rtl="0">
              <a:spcBef>
                <a:spcPts val="1000"/>
              </a:spcBef>
              <a:spcAft>
                <a:spcPts val="0"/>
              </a:spcAft>
              <a:buNone/>
            </a:pPr>
            <a:r>
              <a:rPr lang="en-GB" sz="2200" b="1" dirty="0"/>
              <a:t>Annotation layer</a:t>
            </a:r>
          </a:p>
        </p:txBody>
      </p:sp>
      <p:sp>
        <p:nvSpPr>
          <p:cNvPr id="102" name="Google Shape;102;p11"/>
          <p:cNvSpPr txBox="1">
            <a:spLocks noGrp="1"/>
          </p:cNvSpPr>
          <p:nvPr>
            <p:ph type="body" idx="1"/>
          </p:nvPr>
        </p:nvSpPr>
        <p:spPr>
          <a:xfrm>
            <a:off x="8219313" y="5453950"/>
            <a:ext cx="3809400" cy="998100"/>
          </a:xfrm>
          <a:prstGeom prst="rect">
            <a:avLst/>
          </a:prstGeom>
        </p:spPr>
        <p:txBody>
          <a:bodyPr spcFirstLastPara="1" wrap="square" lIns="0" tIns="0" rIns="0" bIns="0" anchor="t" anchorCtr="0">
            <a:normAutofit/>
          </a:bodyPr>
          <a:lstStyle/>
          <a:p>
            <a:pPr marL="0" lvl="0" indent="0" algn="l" rtl="0">
              <a:spcBef>
                <a:spcPts val="1000"/>
              </a:spcBef>
              <a:spcAft>
                <a:spcPts val="0"/>
              </a:spcAft>
              <a:buNone/>
            </a:pPr>
            <a:r>
              <a:rPr lang="en-GB" sz="1200"/>
              <a:t>Brush, shapes and eraser draw over the slide or video; strokes are shared and mirrored on the seat tablets.</a:t>
            </a:r>
          </a:p>
        </p:txBody>
      </p:sp>
      <p:sp>
        <p:nvSpPr>
          <p:cNvPr id="103" name="Google Shape;103;p11"/>
          <p:cNvSpPr txBox="1">
            <a:spLocks noGrp="1"/>
          </p:cNvSpPr>
          <p:nvPr>
            <p:ph type="sldNum" idx="12"/>
          </p:nvPr>
        </p:nvSpPr>
        <p:spPr>
          <a:xfrm>
            <a:off x="8610599" y="6356350"/>
            <a:ext cx="3258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GB"/>
              <a:t>6</a:t>
            </a:fld>
            <a:endParaRPr/>
          </a:p>
        </p:txBody>
      </p:sp>
      <p:pic>
        <p:nvPicPr>
          <p:cNvPr id="904" name="Screenshot 904"/>
          <p:cNvPicPr preferRelativeResize="0"/>
          <p:nvPr/>
        </p:nvPicPr>
        <p:blipFill>
          <a:blip r:embed="rId3"/>
          <a:stretch>
            <a:fillRect/>
          </a:stretch>
        </p:blipFill>
        <p:spPr>
          <a:xfrm>
            <a:off x="163275" y="2451806"/>
            <a:ext cx="3809400" cy="2142788"/>
          </a:xfrm>
          <a:prstGeom prst="rect">
            <a:avLst/>
          </a:prstGeom>
          <a:ln w="9525">
            <a:solidFill>
              <a:srgbClr val="C9CCD2"/>
            </a:solidFill>
          </a:ln>
        </p:spPr>
      </p:pic>
      <p:pic>
        <p:nvPicPr>
          <p:cNvPr id="905" name="Screenshot 905"/>
          <p:cNvPicPr preferRelativeResize="0"/>
          <p:nvPr/>
        </p:nvPicPr>
        <p:blipFill>
          <a:blip r:embed="rId4"/>
          <a:stretch>
            <a:fillRect/>
          </a:stretch>
        </p:blipFill>
        <p:spPr>
          <a:xfrm>
            <a:off x="4191213" y="2451806"/>
            <a:ext cx="3809400" cy="2142788"/>
          </a:xfrm>
          <a:prstGeom prst="rect">
            <a:avLst/>
          </a:prstGeom>
          <a:ln w="9525">
            <a:solidFill>
              <a:srgbClr val="C9CCD2"/>
            </a:solidFill>
          </a:ln>
        </p:spPr>
      </p:pic>
      <p:pic>
        <p:nvPicPr>
          <p:cNvPr id="906" name="Screenshot 906"/>
          <p:cNvPicPr preferRelativeResize="0"/>
          <p:nvPr/>
        </p:nvPicPr>
        <p:blipFill>
          <a:blip r:embed="rId5"/>
          <a:stretch>
            <a:fillRect/>
          </a:stretch>
        </p:blipFill>
        <p:spPr>
          <a:xfrm>
            <a:off x="8219238" y="2451806"/>
            <a:ext cx="3809400" cy="2142788"/>
          </a:xfrm>
          <a:prstGeom prst="rect">
            <a:avLst/>
          </a:prstGeom>
          <a:ln w="9525">
            <a:solidFill>
              <a:srgbClr val="C9CCD2"/>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2"/>
          <p:cNvSpPr txBox="1">
            <a:spLocks noGrp="1"/>
          </p:cNvSpPr>
          <p:nvPr>
            <p:ph type="title"/>
          </p:nvPr>
        </p:nvSpPr>
        <p:spPr>
          <a:xfrm>
            <a:off x="322875" y="314575"/>
            <a:ext cx="10089900" cy="7149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a:t>Technical Implementation</a:t>
            </a:r>
            <a:endParaRPr/>
          </a:p>
        </p:txBody>
      </p:sp>
      <p:sp>
        <p:nvSpPr>
          <p:cNvPr id="110" name="Google Shape;110;p12"/>
          <p:cNvSpPr txBox="1">
            <a:spLocks noGrp="1"/>
          </p:cNvSpPr>
          <p:nvPr>
            <p:ph type="body" idx="1"/>
          </p:nvPr>
        </p:nvSpPr>
        <p:spPr>
          <a:xfrm>
            <a:off x="322725" y="1188925"/>
            <a:ext cx="11546400" cy="5037900"/>
          </a:xfrm>
          <a:prstGeom prst="rect">
            <a:avLst/>
          </a:prstGeom>
        </p:spPr>
        <p:txBody>
          <a:bodyPr spcFirstLastPara="1" wrap="square" lIns="0" tIns="0" rIns="0" bIns="0" anchor="t" anchorCtr="0">
            <a:normAutofit/>
          </a:bodyPr>
          <a:lstStyle/>
          <a:p>
            <a:pPr marL="0" lvl="0" indent="0" algn="l" rtl="0">
              <a:spcBef>
                <a:spcPts val="1000"/>
              </a:spcBef>
              <a:spcAft>
                <a:spcPts val="0"/>
              </a:spcAft>
              <a:buNone/>
            </a:pPr>
            <a:r>
              <a:rPr lang="en-GB" sz="1900" b="1" dirty="0"/>
              <a:t>Tools and software</a:t>
            </a:r>
            <a:endParaRPr sz="1900" b="1" dirty="0"/>
          </a:p>
          <a:p>
            <a:pPr marL="0" lvl="0" indent="0" algn="l" rtl="0">
              <a:spcBef>
                <a:spcPts val="1000"/>
              </a:spcBef>
              <a:spcAft>
                <a:spcPts val="0"/>
              </a:spcAft>
              <a:buNone/>
            </a:pPr>
            <a:r>
              <a:rPr lang="en-GB" sz="1600" dirty="0"/>
              <a:t>Unity 2022.3.22f1, VRChat Worlds SDK 3.10 (Udon and UdonSharp), Blender for the hall and furniture, C# editor tooling, Git and GitHub.</a:t>
            </a:r>
          </a:p>
          <a:p>
            <a:pPr marL="0" lvl="0" indent="0" algn="l" rtl="0">
              <a:spcBef>
                <a:spcPts val="1000"/>
              </a:spcBef>
              <a:spcAft>
                <a:spcPts val="0"/>
              </a:spcAft>
              <a:buNone/>
            </a:pPr>
            <a:r>
              <a:rPr lang="en-GB" sz="1900" b="1" dirty="0"/>
              <a:t>Development process</a:t>
            </a:r>
            <a:endParaRPr sz="1900" b="1" dirty="0"/>
          </a:p>
          <a:p>
            <a:pPr marL="0" lvl="0" indent="0" algn="l" rtl="0">
              <a:spcBef>
                <a:spcPts val="1000"/>
              </a:spcBef>
              <a:spcAft>
                <a:spcPts val="0"/>
              </a:spcAft>
              <a:buNone/>
            </a:pPr>
            <a:r>
              <a:rPr lang="en-GB" sz="1600" dirty="0"/>
              <a:t>The interior was modelled in Blender from reference photos, assembled and lit in Unity, and the interactive systems were written in UdonSharp. An editor script rebuilds the board, the desk panel, 48 seat tablets and the drawing area from a single menu command.</a:t>
            </a:r>
          </a:p>
          <a:p>
            <a:pPr marL="0" lvl="0" indent="0" algn="l" rtl="0">
              <a:spcBef>
                <a:spcPts val="1000"/>
              </a:spcBef>
              <a:spcAft>
                <a:spcPts val="0"/>
              </a:spcAft>
              <a:buNone/>
            </a:pPr>
            <a:r>
              <a:rPr lang="en-GB" sz="1900" b="1" dirty="0" err="1"/>
              <a:t>VRChat</a:t>
            </a:r>
            <a:r>
              <a:rPr lang="en-GB" sz="1900" b="1" dirty="0"/>
              <a:t> integration</a:t>
            </a:r>
            <a:endParaRPr sz="1900" b="1" dirty="0"/>
          </a:p>
          <a:p>
            <a:pPr marL="0" lvl="0" indent="0" algn="l" rtl="0">
              <a:spcBef>
                <a:spcPts val="1000"/>
              </a:spcBef>
              <a:spcAft>
                <a:spcPts val="0"/>
              </a:spcAft>
              <a:buNone/>
            </a:pPr>
            <a:r>
              <a:rPr lang="en-GB" sz="1600" dirty="0"/>
              <a:t>Seats are VRChat stations, panels are world-space canvases, and video runs on the Unity player on PC and on AVPro in the Android build. Board state is synchronised manually, so a latecomer receives the current video, slide and drawing.</a:t>
            </a:r>
          </a:p>
          <a:p>
            <a:pPr marL="0" lvl="0" indent="0" algn="l" rtl="0">
              <a:spcBef>
                <a:spcPts val="1000"/>
              </a:spcBef>
              <a:spcAft>
                <a:spcPts val="0"/>
              </a:spcAft>
              <a:buNone/>
            </a:pPr>
            <a:r>
              <a:rPr lang="en-GB" sz="1900" b="1" dirty="0"/>
              <a:t>Technical challenges</a:t>
            </a:r>
            <a:endParaRPr sz="1900" b="1" dirty="0"/>
          </a:p>
          <a:p>
            <a:pPr marL="0" lvl="0" indent="0" algn="l" rtl="0">
              <a:spcBef>
                <a:spcPts val="1000"/>
              </a:spcBef>
              <a:spcAft>
                <a:spcPts val="0"/>
              </a:spcAft>
              <a:buNone/>
            </a:pPr>
            <a:r>
              <a:rPr lang="en-GB" sz="1600" dirty="0"/>
              <a:t>Playback is aligned by a shared server-time offset instead of a timestamp, so every client seeks to the same moment. Control rights were moved to the desk after the first version let anyone press the buttons. A Play Mode test suite of 124 checks runs the world on both build targets.</a:t>
            </a:r>
          </a:p>
          <a:p>
            <a:pPr marL="0" lvl="0" indent="0" algn="l" rtl="0">
              <a:spcBef>
                <a:spcPts val="1000"/>
              </a:spcBef>
              <a:spcAft>
                <a:spcPts val="0"/>
              </a:spcAft>
              <a:buNone/>
            </a:pPr>
            <a:endParaRPr sz="1600" dirty="0"/>
          </a:p>
          <a:p>
            <a:pPr marL="0" lvl="0" indent="0" algn="l" rtl="0">
              <a:spcBef>
                <a:spcPts val="1000"/>
              </a:spcBef>
              <a:spcAft>
                <a:spcPts val="0"/>
              </a:spcAft>
              <a:buNone/>
            </a:pPr>
            <a:endParaRPr sz="1600" dirty="0"/>
          </a:p>
        </p:txBody>
      </p:sp>
      <p:sp>
        <p:nvSpPr>
          <p:cNvPr id="111" name="Google Shape;111;p12"/>
          <p:cNvSpPr txBox="1">
            <a:spLocks noGrp="1"/>
          </p:cNvSpPr>
          <p:nvPr>
            <p:ph type="sldNum" idx="12"/>
          </p:nvPr>
        </p:nvSpPr>
        <p:spPr>
          <a:xfrm>
            <a:off x="8610599" y="6356350"/>
            <a:ext cx="3258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GB"/>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3"/>
          <p:cNvSpPr txBox="1">
            <a:spLocks noGrp="1"/>
          </p:cNvSpPr>
          <p:nvPr>
            <p:ph type="title"/>
          </p:nvPr>
        </p:nvSpPr>
        <p:spPr>
          <a:xfrm>
            <a:off x="322875" y="314575"/>
            <a:ext cx="10089900" cy="794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a:t>Integration into NEXT-Study Metaverse</a:t>
            </a:r>
            <a:endParaRPr/>
          </a:p>
        </p:txBody>
      </p:sp>
      <p:sp>
        <p:nvSpPr>
          <p:cNvPr id="118" name="Google Shape;118;p13"/>
          <p:cNvSpPr txBox="1">
            <a:spLocks noGrp="1"/>
          </p:cNvSpPr>
          <p:nvPr>
            <p:ph type="body" idx="1"/>
          </p:nvPr>
        </p:nvSpPr>
        <p:spPr>
          <a:xfrm>
            <a:off x="322725" y="1459350"/>
            <a:ext cx="11546400" cy="4767600"/>
          </a:xfrm>
          <a:prstGeom prst="rect">
            <a:avLst/>
          </a:prstGeom>
        </p:spPr>
        <p:txBody>
          <a:bodyPr spcFirstLastPara="1" wrap="square" lIns="0" tIns="0" rIns="0" bIns="0" anchor="t" anchorCtr="0">
            <a:normAutofit/>
          </a:bodyPr>
          <a:lstStyle/>
          <a:p>
            <a:pPr marL="0" lvl="0" indent="0" algn="l" rtl="0">
              <a:spcBef>
                <a:spcPts val="1000"/>
              </a:spcBef>
              <a:spcAft>
                <a:spcPts val="0"/>
              </a:spcAft>
              <a:buNone/>
            </a:pPr>
            <a:r>
              <a:rPr lang="en-GB" sz="1900" b="1" dirty="0"/>
              <a:t>Educational use</a:t>
            </a:r>
            <a:endParaRPr sz="1900" b="1" dirty="0"/>
          </a:p>
          <a:p>
            <a:pPr marL="0" lvl="0" indent="0" algn="l" rtl="0">
              <a:spcBef>
                <a:spcPts val="1000"/>
              </a:spcBef>
              <a:spcAft>
                <a:spcPts val="0"/>
              </a:spcAft>
              <a:buNone/>
            </a:pPr>
            <a:r>
              <a:rPr lang="en-GB" sz="1600" dirty="0"/>
              <a:t>Lectures, seminars and project defences: the teacher plays a video or slides, annotates them live on the board, and hands control to the student who presents next.</a:t>
            </a:r>
          </a:p>
          <a:p>
            <a:pPr marL="0" lvl="0" indent="0" algn="l" rtl="0">
              <a:spcBef>
                <a:spcPts val="1000"/>
              </a:spcBef>
              <a:spcAft>
                <a:spcPts val="0"/>
              </a:spcAft>
              <a:buNone/>
            </a:pPr>
            <a:r>
              <a:rPr lang="en-GB" sz="1900" b="1" dirty="0"/>
              <a:t>User experience</a:t>
            </a:r>
            <a:endParaRPr sz="1900" b="1" dirty="0"/>
          </a:p>
          <a:p>
            <a:pPr marL="0" lvl="0" indent="0" algn="l" rtl="0">
              <a:spcBef>
                <a:spcPts val="1000"/>
              </a:spcBef>
              <a:spcAft>
                <a:spcPts val="0"/>
              </a:spcAft>
              <a:buNone/>
            </a:pPr>
            <a:r>
              <a:rPr lang="en-GB" sz="1600" dirty="0"/>
              <a:t>Visitors take a seat and get a personal tablet with the board close up: the same picture as everyone else, plus a request for presenter rights to show their own material or draw.</a:t>
            </a:r>
          </a:p>
          <a:p>
            <a:pPr marL="0" lvl="0" indent="0" algn="l" rtl="0">
              <a:spcBef>
                <a:spcPts val="1000"/>
              </a:spcBef>
              <a:spcAft>
                <a:spcPts val="0"/>
              </a:spcAft>
              <a:buNone/>
            </a:pPr>
            <a:r>
              <a:rPr lang="en-GB" sz="1900" b="1" dirty="0"/>
              <a:t>Further development</a:t>
            </a:r>
            <a:endParaRPr sz="1900" b="1" dirty="0"/>
          </a:p>
          <a:p>
            <a:pPr marL="0" lvl="0" indent="0" algn="l" rtl="0">
              <a:spcBef>
                <a:spcPts val="1000"/>
              </a:spcBef>
              <a:spcAft>
                <a:spcPts val="0"/>
              </a:spcAft>
              <a:buNone/>
            </a:pPr>
            <a:r>
              <a:rPr lang="en-GB" sz="1600" dirty="0"/>
              <a:t>Text labels on the board, saving annotated slides, breakout zones for group work, a Quest-optimised build and state that survives between sessions.</a:t>
            </a:r>
          </a:p>
        </p:txBody>
      </p:sp>
      <p:sp>
        <p:nvSpPr>
          <p:cNvPr id="119" name="Google Shape;119;p13"/>
          <p:cNvSpPr txBox="1">
            <a:spLocks noGrp="1"/>
          </p:cNvSpPr>
          <p:nvPr>
            <p:ph type="sldNum" idx="12"/>
          </p:nvPr>
        </p:nvSpPr>
        <p:spPr>
          <a:xfrm>
            <a:off x="8610599" y="6356350"/>
            <a:ext cx="3258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GB"/>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4"/>
          <p:cNvSpPr txBox="1">
            <a:spLocks noGrp="1"/>
          </p:cNvSpPr>
          <p:nvPr>
            <p:ph type="body" idx="1"/>
          </p:nvPr>
        </p:nvSpPr>
        <p:spPr>
          <a:xfrm>
            <a:off x="322725" y="1459350"/>
            <a:ext cx="11546400" cy="4767600"/>
          </a:xfrm>
          <a:prstGeom prst="rect">
            <a:avLst/>
          </a:prstGeom>
        </p:spPr>
        <p:txBody>
          <a:bodyPr spcFirstLastPara="1" wrap="square" lIns="0" tIns="0" rIns="0" bIns="0" anchor="t" anchorCtr="0">
            <a:normAutofit/>
          </a:bodyPr>
          <a:lstStyle/>
          <a:p>
            <a:pPr marL="0" lvl="0" indent="0" algn="l" rtl="0">
              <a:spcBef>
                <a:spcPts val="1000"/>
              </a:spcBef>
              <a:spcAft>
                <a:spcPts val="0"/>
              </a:spcAft>
              <a:buNone/>
            </a:pPr>
            <a:r>
              <a:rPr lang="en-GB" sz="2300" b="1" dirty="0"/>
              <a:t>Project demo</a:t>
            </a:r>
            <a:endParaRPr sz="2300" b="1" dirty="0"/>
          </a:p>
          <a:p>
            <a:pPr marL="0" lvl="0" indent="0" algn="l" rtl="0">
              <a:spcBef>
                <a:spcPts val="1000"/>
              </a:spcBef>
              <a:spcAft>
                <a:spcPts val="0"/>
              </a:spcAft>
              <a:buNone/>
            </a:pPr>
            <a:r>
              <a:rPr lang="en-GB" sz="2300" dirty="0"/>
              <a:t>The world is built from the repository below: Unity 2022.3.22f1 with VRChat Worlds SDK 3.10, scene Assets/Scenes/</a:t>
            </a:r>
            <a:r>
              <a:rPr lang="en-GB" sz="2300" dirty="0" err="1"/>
              <a:t>VRCDefaultWorldScene.unity</a:t>
            </a:r>
            <a:r>
              <a:rPr lang="en-GB" sz="2300" dirty="0"/>
              <a:t>.</a:t>
            </a:r>
          </a:p>
          <a:p>
            <a:pPr marL="0" lvl="0" indent="0" algn="l" rtl="0">
              <a:spcBef>
                <a:spcPts val="1000"/>
              </a:spcBef>
              <a:spcAft>
                <a:spcPts val="0"/>
              </a:spcAft>
              <a:buNone/>
            </a:pPr>
            <a:r>
              <a:rPr lang="en-GB" sz="2300" b="1" dirty="0"/>
              <a:t>Project materials</a:t>
            </a:r>
            <a:endParaRPr sz="2300" b="1" dirty="0"/>
          </a:p>
          <a:p>
            <a:pPr marL="0" lvl="0" indent="0"/>
            <a:r>
              <a:rPr lang="en-GB" sz="2300"/>
              <a:t>https://github.com/Dimon0101/NextMetaversProject</a:t>
            </a:r>
            <a:endParaRPr sz="2000" i="1" dirty="0"/>
          </a:p>
        </p:txBody>
      </p:sp>
      <p:sp>
        <p:nvSpPr>
          <p:cNvPr id="126" name="Google Shape;126;p14"/>
          <p:cNvSpPr txBox="1">
            <a:spLocks noGrp="1"/>
          </p:cNvSpPr>
          <p:nvPr>
            <p:ph type="title"/>
          </p:nvPr>
        </p:nvSpPr>
        <p:spPr>
          <a:xfrm>
            <a:off x="322875" y="314575"/>
            <a:ext cx="10089900" cy="794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a:t>Demo and Project Materials</a:t>
            </a:r>
            <a:endParaRPr/>
          </a:p>
        </p:txBody>
      </p:sp>
      <p:sp>
        <p:nvSpPr>
          <p:cNvPr id="127" name="Google Shape;127;p14"/>
          <p:cNvSpPr txBox="1">
            <a:spLocks noGrp="1"/>
          </p:cNvSpPr>
          <p:nvPr>
            <p:ph type="sldNum" idx="12"/>
          </p:nvPr>
        </p:nvSpPr>
        <p:spPr>
          <a:xfrm>
            <a:off x="8610599" y="6356350"/>
            <a:ext cx="3258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GB"/>
              <a:t>9</a:t>
            </a:fld>
            <a:endParaRPr/>
          </a:p>
        </p:txBody>
      </p:sp>
      <p:pic>
        <p:nvPicPr>
          <p:cNvPr id="907" name="Screenshot 907"/>
          <p:cNvPicPr preferRelativeResize="0"/>
          <p:nvPr/>
        </p:nvPicPr>
        <p:blipFill>
          <a:blip r:embed="rId3"/>
          <a:stretch>
            <a:fillRect/>
          </a:stretch>
        </p:blipFill>
        <p:spPr>
          <a:xfrm>
            <a:off x="7043596" y="3550000"/>
            <a:ext cx="4656404" cy="2676950"/>
          </a:xfrm>
          <a:prstGeom prst="rect">
            <a:avLst/>
          </a:prstGeom>
          <a:ln w="9525">
            <a:solidFill>
              <a:srgbClr val="C9CCD2"/>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5"/>
          <p:cNvSpPr txBox="1">
            <a:spLocks noGrp="1"/>
          </p:cNvSpPr>
          <p:nvPr>
            <p:ph type="ctrTitle"/>
          </p:nvPr>
        </p:nvSpPr>
        <p:spPr>
          <a:xfrm>
            <a:off x="322729" y="2400300"/>
            <a:ext cx="11470200" cy="21180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GB"/>
              <a:t>Thank you!</a:t>
            </a:r>
            <a:endParaRPr/>
          </a:p>
          <a:p>
            <a:pPr marL="0" lvl="0" indent="0" algn="ctr" rtl="0">
              <a:spcBef>
                <a:spcPts val="1800"/>
              </a:spcBef>
              <a:spcAft>
                <a:spcPts val="0"/>
              </a:spcAft>
              <a:buNone/>
            </a:pPr>
            <a:r>
              <a:rPr lang="en-GB" sz="3000"/>
              <a:t>Questions?</a:t>
            </a:r>
            <a:endParaRPr sz="3000"/>
          </a:p>
        </p:txBody>
      </p:sp>
      <p:sp>
        <p:nvSpPr>
          <p:cNvPr id="134" name="Google Shape;134;p15"/>
          <p:cNvSpPr txBox="1">
            <a:spLocks noGrp="1"/>
          </p:cNvSpPr>
          <p:nvPr>
            <p:ph type="sldNum" idx="12"/>
          </p:nvPr>
        </p:nvSpPr>
        <p:spPr>
          <a:xfrm>
            <a:off x="11409045" y="6333134"/>
            <a:ext cx="731700" cy="5250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sld>
</file>

<file path=ppt/theme/theme1.xml><?xml version="1.0" encoding="utf-8"?>
<a:theme xmlns:a="http://schemas.openxmlformats.org/drawingml/2006/main" name="NEXT Project">
  <a:themeElements>
    <a:clrScheme name="NEXT Project">
      <a:dk1>
        <a:srgbClr val="000000"/>
      </a:dk1>
      <a:lt1>
        <a:srgbClr val="FFFFFF"/>
      </a:lt1>
      <a:dk2>
        <a:srgbClr val="3F5774"/>
      </a:dk2>
      <a:lt2>
        <a:srgbClr val="D7E4F3"/>
      </a:lt2>
      <a:accent1>
        <a:srgbClr val="5E2CEB"/>
      </a:accent1>
      <a:accent2>
        <a:srgbClr val="906EF1"/>
      </a:accent2>
      <a:accent3>
        <a:srgbClr val="FF9200"/>
      </a:accent3>
      <a:accent4>
        <a:srgbClr val="E5171C"/>
      </a:accent4>
      <a:accent5>
        <a:srgbClr val="FEE600"/>
      </a:accent5>
      <a:accent6>
        <a:srgbClr val="70C51D"/>
      </a:accent6>
      <a:hlink>
        <a:srgbClr val="009EDB"/>
      </a:hlink>
      <a:folHlink>
        <a:srgbClr val="009ED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ív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674</Words>
  <Application>Microsoft Office PowerPoint</Application>
  <PresentationFormat>Широкоэкранный</PresentationFormat>
  <Paragraphs>75</Paragraphs>
  <Slides>10</Slides>
  <Notes>10</Notes>
  <HiddenSlides>0</HiddenSlides>
  <MMClips>0</MMClips>
  <ScaleCrop>false</ScaleCrop>
  <HeadingPairs>
    <vt:vector size="6" baseType="variant">
      <vt:variant>
        <vt:lpstr>Использованные шрифты</vt:lpstr>
      </vt:variant>
      <vt:variant>
        <vt:i4>1</vt:i4>
      </vt:variant>
      <vt:variant>
        <vt:lpstr>Тема</vt:lpstr>
      </vt:variant>
      <vt:variant>
        <vt:i4>1</vt:i4>
      </vt:variant>
      <vt:variant>
        <vt:lpstr>Заголовки слайдов</vt:lpstr>
      </vt:variant>
      <vt:variant>
        <vt:i4>10</vt:i4>
      </vt:variant>
    </vt:vector>
  </HeadingPairs>
  <TitlesOfParts>
    <vt:vector size="12" baseType="lpstr">
      <vt:lpstr>Arial</vt:lpstr>
      <vt:lpstr>NEXT Project</vt:lpstr>
      <vt:lpstr>Interactive lecture hall in VRChat</vt:lpstr>
      <vt:lpstr>Our Team</vt:lpstr>
      <vt:lpstr>Selected Location</vt:lpstr>
      <vt:lpstr>Selected Location</vt:lpstr>
      <vt:lpstr>Virtual Model</vt:lpstr>
      <vt:lpstr>Digital Artefacts</vt:lpstr>
      <vt:lpstr>Technical Implementation</vt:lpstr>
      <vt:lpstr>Integration into NEXT-Study Metaverse</vt:lpstr>
      <vt:lpstr>Demo and Project Materials</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Дмитро  Денисюк</cp:lastModifiedBy>
  <cp:revision>7</cp:revision>
  <dcterms:modified xsi:type="dcterms:W3CDTF">2026-09-21T05:38:16Z</dcterms:modified>
</cp:coreProperties>
</file>